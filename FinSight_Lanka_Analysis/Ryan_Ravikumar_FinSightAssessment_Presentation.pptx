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fntdata" ContentType="application/x-fontdata"/>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Canva Sans Italics" panose="020B0604020202020204" charset="0"/>
      <p:regular r:id="rId12"/>
    </p:embeddedFont>
    <p:embeddedFont>
      <p:font typeface="Canva Sans Bold" panose="020B0604020202020204" charset="0"/>
      <p:regular r:id="rId13"/>
    </p:embeddedFont>
    <p:embeddedFont>
      <p:font typeface="Segoe UI" panose="020B0502040204020203" pitchFamily="34" charset="0"/>
      <p:regular r:id="rId14"/>
      <p:bold r:id="rId15"/>
      <p:italic r:id="rId16"/>
      <p:boldItalic r:id="rId17"/>
    </p:embeddedFont>
    <p:embeddedFont>
      <p:font typeface="Canva Sans" panose="020B0604020202020204" charset="0"/>
      <p:regular r:id="rId18"/>
    </p:embeddedFont>
    <p:embeddedFont>
      <p:font typeface="Calibri" panose="020F0502020204030204" pitchFamily="34" charset="0"/>
      <p:regular r:id="rId19"/>
      <p:bold r:id="rId20"/>
      <p:italic r:id="rId21"/>
      <p:boldItalic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6" d="100"/>
          <a:sy n="46" d="100"/>
        </p:scale>
        <p:origin x="738"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png"/></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RyanAdrianRavikumar/default_loan_analysis.git" TargetMode="Externa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83543" y="3573274"/>
            <a:ext cx="17944648" cy="1545295"/>
          </a:xfrm>
          <a:prstGeom prst="rect">
            <a:avLst/>
          </a:prstGeom>
        </p:spPr>
        <p:txBody>
          <a:bodyPr wrap="square" lIns="0" tIns="0" rIns="0" bIns="0" rtlCol="0" anchor="t">
            <a:spAutoFit/>
          </a:bodyPr>
          <a:lstStyle/>
          <a:p>
            <a:pPr>
              <a:lnSpc>
                <a:spcPts val="12880"/>
              </a:lnSpc>
            </a:pPr>
            <a:r>
              <a:rPr lang="en-US" sz="9200" b="1" dirty="0" err="1">
                <a:solidFill>
                  <a:srgbClr val="000000"/>
                </a:solidFill>
                <a:latin typeface="Canva Sans Bold"/>
                <a:ea typeface="Canva Sans Bold"/>
                <a:cs typeface="Canva Sans Bold"/>
                <a:sym typeface="Canva Sans Bold"/>
              </a:rPr>
              <a:t>FinSight</a:t>
            </a:r>
            <a:r>
              <a:rPr lang="en-US" sz="9200" b="1" dirty="0">
                <a:solidFill>
                  <a:srgbClr val="000000"/>
                </a:solidFill>
                <a:latin typeface="Canva Sans Bold"/>
                <a:ea typeface="Canva Sans Bold"/>
                <a:cs typeface="Canva Sans Bold"/>
                <a:sym typeface="Canva Sans Bold"/>
              </a:rPr>
              <a:t> Lanka</a:t>
            </a:r>
          </a:p>
        </p:txBody>
      </p:sp>
      <p:sp>
        <p:nvSpPr>
          <p:cNvPr id="3" name="TextBox 3"/>
          <p:cNvSpPr txBox="1"/>
          <p:nvPr/>
        </p:nvSpPr>
        <p:spPr>
          <a:xfrm>
            <a:off x="1083543" y="5349875"/>
            <a:ext cx="17204457" cy="936154"/>
          </a:xfrm>
          <a:prstGeom prst="rect">
            <a:avLst/>
          </a:prstGeom>
        </p:spPr>
        <p:txBody>
          <a:bodyPr wrap="square" lIns="0" tIns="0" rIns="0" bIns="0" rtlCol="0" anchor="t">
            <a:spAutoFit/>
          </a:bodyPr>
          <a:lstStyle/>
          <a:p>
            <a:pPr>
              <a:lnSpc>
                <a:spcPts val="7279"/>
              </a:lnSpc>
            </a:pPr>
            <a:r>
              <a:rPr lang="en-US" sz="5199" dirty="0">
                <a:solidFill>
                  <a:srgbClr val="000000"/>
                </a:solidFill>
                <a:latin typeface="Canva Sans"/>
                <a:ea typeface="Canva Sans"/>
                <a:cs typeface="Canva Sans"/>
                <a:sym typeface="Canva Sans"/>
              </a:rPr>
              <a:t>Customer Data Analysis</a:t>
            </a:r>
          </a:p>
        </p:txBody>
      </p:sp>
      <p:sp>
        <p:nvSpPr>
          <p:cNvPr id="4" name="TextBox 4"/>
          <p:cNvSpPr txBox="1"/>
          <p:nvPr/>
        </p:nvSpPr>
        <p:spPr>
          <a:xfrm>
            <a:off x="1028700" y="8677910"/>
            <a:ext cx="17259300" cy="615553"/>
          </a:xfrm>
          <a:prstGeom prst="rect">
            <a:avLst/>
          </a:prstGeom>
        </p:spPr>
        <p:txBody>
          <a:bodyPr wrap="square" lIns="0" tIns="0" rIns="0" bIns="0" rtlCol="0" anchor="t">
            <a:spAutoFit/>
          </a:bodyPr>
          <a:lstStyle/>
          <a:p>
            <a:pPr>
              <a:lnSpc>
                <a:spcPts val="4759"/>
              </a:lnSpc>
            </a:pPr>
            <a:r>
              <a:rPr lang="en-US" sz="3399" dirty="0">
                <a:solidFill>
                  <a:srgbClr val="000000"/>
                </a:solidFill>
                <a:latin typeface="Canva Sans"/>
                <a:ea typeface="Canva Sans"/>
                <a:cs typeface="Canva Sans"/>
                <a:sym typeface="Canva Sans"/>
              </a:rPr>
              <a:t>Ryan </a:t>
            </a:r>
            <a:r>
              <a:rPr lang="en-US" sz="3399" dirty="0" err="1">
                <a:solidFill>
                  <a:srgbClr val="000000"/>
                </a:solidFill>
                <a:latin typeface="Canva Sans"/>
                <a:ea typeface="Canva Sans"/>
                <a:cs typeface="Canva Sans"/>
                <a:sym typeface="Canva Sans"/>
              </a:rPr>
              <a:t>Ravikumar</a:t>
            </a:r>
            <a:endParaRPr lang="en-US" sz="3399" dirty="0">
              <a:solidFill>
                <a:srgbClr val="000000"/>
              </a:solidFill>
              <a:latin typeface="Canva Sans"/>
              <a:ea typeface="Canva Sans"/>
              <a:cs typeface="Canva Sans"/>
              <a:sym typeface="Canva Sans"/>
            </a:endParaRPr>
          </a:p>
        </p:txBody>
      </p:sp>
      <p:sp>
        <p:nvSpPr>
          <p:cNvPr id="5" name="TextBox 5"/>
          <p:cNvSpPr txBox="1"/>
          <p:nvPr/>
        </p:nvSpPr>
        <p:spPr>
          <a:xfrm>
            <a:off x="1028700" y="8164195"/>
            <a:ext cx="17259300" cy="574196"/>
          </a:xfrm>
          <a:prstGeom prst="rect">
            <a:avLst/>
          </a:prstGeom>
        </p:spPr>
        <p:txBody>
          <a:bodyPr wrap="square" lIns="0" tIns="0" rIns="0" bIns="0" rtlCol="0" anchor="t">
            <a:spAutoFit/>
          </a:bodyPr>
          <a:lstStyle/>
          <a:p>
            <a:pPr>
              <a:lnSpc>
                <a:spcPts val="4759"/>
              </a:lnSpc>
            </a:pPr>
            <a:r>
              <a:rPr lang="en-US" sz="3399" u="sng" dirty="0">
                <a:solidFill>
                  <a:srgbClr val="1F76B4"/>
                </a:solidFill>
                <a:latin typeface="Canva Sans"/>
                <a:ea typeface="Canva Sans"/>
                <a:cs typeface="Canva Sans"/>
                <a:sym typeface="Canva Sans"/>
                <a:hlinkClick r:id="rId2" tooltip="https://github.com/RyanAdrianRavikumar/default_loan_analysis.git"/>
              </a:rPr>
              <a:t>GitHub Link of Project Files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2109172"/>
            <a:ext cx="4478243" cy="3406774"/>
            <a:chOff x="0" y="0"/>
            <a:chExt cx="1179455" cy="897257"/>
          </a:xfrm>
        </p:grpSpPr>
        <p:sp>
          <p:nvSpPr>
            <p:cNvPr id="3" name="Freeform 3"/>
            <p:cNvSpPr/>
            <p:nvPr/>
          </p:nvSpPr>
          <p:spPr>
            <a:xfrm>
              <a:off x="0" y="0"/>
              <a:ext cx="1179455" cy="897257"/>
            </a:xfrm>
            <a:custGeom>
              <a:avLst/>
              <a:gdLst/>
              <a:ahLst/>
              <a:cxnLst/>
              <a:rect l="l" t="t" r="r" b="b"/>
              <a:pathLst>
                <a:path w="1179455" h="897257">
                  <a:moveTo>
                    <a:pt x="0" y="0"/>
                  </a:moveTo>
                  <a:lnTo>
                    <a:pt x="1179455" y="0"/>
                  </a:lnTo>
                  <a:lnTo>
                    <a:pt x="1179455" y="897257"/>
                  </a:lnTo>
                  <a:lnTo>
                    <a:pt x="0" y="897257"/>
                  </a:lnTo>
                  <a:close/>
                </a:path>
              </a:pathLst>
            </a:custGeom>
            <a:solidFill>
              <a:srgbClr val="006D78"/>
            </a:solidFill>
          </p:spPr>
        </p:sp>
        <p:sp>
          <p:nvSpPr>
            <p:cNvPr id="4" name="TextBox 4"/>
            <p:cNvSpPr txBox="1"/>
            <p:nvPr/>
          </p:nvSpPr>
          <p:spPr>
            <a:xfrm>
              <a:off x="0" y="-38100"/>
              <a:ext cx="1179455" cy="935357"/>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1028700" y="933450"/>
            <a:ext cx="16230600" cy="936154"/>
          </a:xfrm>
          <a:prstGeom prst="rect">
            <a:avLst/>
          </a:prstGeom>
        </p:spPr>
        <p:txBody>
          <a:bodyPr wrap="square" lIns="0" tIns="0" rIns="0" bIns="0" rtlCol="0" anchor="t">
            <a:spAutoFit/>
          </a:bodyPr>
          <a:lstStyle/>
          <a:p>
            <a:pPr algn="l">
              <a:lnSpc>
                <a:spcPts val="7279"/>
              </a:lnSpc>
            </a:pPr>
            <a:r>
              <a:rPr lang="en-US" sz="5199" dirty="0">
                <a:solidFill>
                  <a:srgbClr val="000000"/>
                </a:solidFill>
                <a:latin typeface="Canva Sans"/>
                <a:ea typeface="Canva Sans"/>
                <a:cs typeface="Canva Sans"/>
                <a:sym typeface="Canva Sans"/>
              </a:rPr>
              <a:t>Section 1 - Data Cleaning Process</a:t>
            </a:r>
          </a:p>
        </p:txBody>
      </p:sp>
      <p:sp>
        <p:nvSpPr>
          <p:cNvPr id="6" name="TextBox 6"/>
          <p:cNvSpPr txBox="1"/>
          <p:nvPr/>
        </p:nvSpPr>
        <p:spPr>
          <a:xfrm>
            <a:off x="1028700" y="2723217"/>
            <a:ext cx="4478243" cy="887095"/>
          </a:xfrm>
          <a:prstGeom prst="rect">
            <a:avLst/>
          </a:prstGeom>
        </p:spPr>
        <p:txBody>
          <a:bodyPr lIns="0" tIns="0" rIns="0" bIns="0" rtlCol="0" anchor="t">
            <a:spAutoFit/>
          </a:bodyPr>
          <a:lstStyle/>
          <a:p>
            <a:pPr algn="ctr">
              <a:lnSpc>
                <a:spcPts val="7279"/>
              </a:lnSpc>
            </a:pPr>
            <a:r>
              <a:rPr lang="en-US" sz="5199" b="1">
                <a:solidFill>
                  <a:srgbClr val="FFFFFF"/>
                </a:solidFill>
                <a:latin typeface="Canva Sans Bold"/>
                <a:ea typeface="Canva Sans Bold"/>
                <a:cs typeface="Canva Sans Bold"/>
                <a:sym typeface="Canva Sans Bold"/>
              </a:rPr>
              <a:t>508 → 500</a:t>
            </a:r>
          </a:p>
        </p:txBody>
      </p:sp>
      <p:sp>
        <p:nvSpPr>
          <p:cNvPr id="7" name="TextBox 7"/>
          <p:cNvSpPr txBox="1"/>
          <p:nvPr/>
        </p:nvSpPr>
        <p:spPr>
          <a:xfrm>
            <a:off x="1241176" y="3572212"/>
            <a:ext cx="4053292" cy="1234440"/>
          </a:xfrm>
          <a:prstGeom prst="rect">
            <a:avLst/>
          </a:prstGeom>
        </p:spPr>
        <p:txBody>
          <a:bodyPr lIns="0" tIns="0" rIns="0" bIns="0" rtlCol="0" anchor="t">
            <a:spAutoFit/>
          </a:bodyPr>
          <a:lstStyle/>
          <a:p>
            <a:pPr algn="ctr">
              <a:lnSpc>
                <a:spcPts val="3359"/>
              </a:lnSpc>
            </a:pPr>
            <a:r>
              <a:rPr lang="en-US" sz="2400">
                <a:solidFill>
                  <a:srgbClr val="FFFFFF"/>
                </a:solidFill>
                <a:latin typeface="Canva Sans"/>
                <a:ea typeface="Canva Sans"/>
                <a:cs typeface="Canva Sans"/>
                <a:sym typeface="Canva Sans"/>
              </a:rPr>
              <a:t>Rows removed after 8 duplicated customer records found</a:t>
            </a:r>
          </a:p>
        </p:txBody>
      </p:sp>
      <p:grpSp>
        <p:nvGrpSpPr>
          <p:cNvPr id="8" name="Group 8"/>
          <p:cNvGrpSpPr/>
          <p:nvPr/>
        </p:nvGrpSpPr>
        <p:grpSpPr>
          <a:xfrm>
            <a:off x="1028700" y="5851526"/>
            <a:ext cx="4478243" cy="3406774"/>
            <a:chOff x="0" y="0"/>
            <a:chExt cx="1179455" cy="897257"/>
          </a:xfrm>
        </p:grpSpPr>
        <p:sp>
          <p:nvSpPr>
            <p:cNvPr id="9" name="Freeform 9"/>
            <p:cNvSpPr/>
            <p:nvPr/>
          </p:nvSpPr>
          <p:spPr>
            <a:xfrm>
              <a:off x="0" y="0"/>
              <a:ext cx="1179455" cy="897257"/>
            </a:xfrm>
            <a:custGeom>
              <a:avLst/>
              <a:gdLst/>
              <a:ahLst/>
              <a:cxnLst/>
              <a:rect l="l" t="t" r="r" b="b"/>
              <a:pathLst>
                <a:path w="1179455" h="897257">
                  <a:moveTo>
                    <a:pt x="0" y="0"/>
                  </a:moveTo>
                  <a:lnTo>
                    <a:pt x="1179455" y="0"/>
                  </a:lnTo>
                  <a:lnTo>
                    <a:pt x="1179455" y="897257"/>
                  </a:lnTo>
                  <a:lnTo>
                    <a:pt x="0" y="897257"/>
                  </a:lnTo>
                  <a:close/>
                </a:path>
              </a:pathLst>
            </a:custGeom>
            <a:solidFill>
              <a:srgbClr val="006D78"/>
            </a:solidFill>
          </p:spPr>
        </p:sp>
        <p:sp>
          <p:nvSpPr>
            <p:cNvPr id="10" name="TextBox 10"/>
            <p:cNvSpPr txBox="1"/>
            <p:nvPr/>
          </p:nvSpPr>
          <p:spPr>
            <a:xfrm>
              <a:off x="0" y="-38100"/>
              <a:ext cx="1179455" cy="935357"/>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1028700" y="6465570"/>
            <a:ext cx="4478243" cy="887095"/>
          </a:xfrm>
          <a:prstGeom prst="rect">
            <a:avLst/>
          </a:prstGeom>
        </p:spPr>
        <p:txBody>
          <a:bodyPr lIns="0" tIns="0" rIns="0" bIns="0" rtlCol="0" anchor="t">
            <a:spAutoFit/>
          </a:bodyPr>
          <a:lstStyle/>
          <a:p>
            <a:pPr algn="ctr">
              <a:lnSpc>
                <a:spcPts val="7279"/>
              </a:lnSpc>
            </a:pPr>
            <a:r>
              <a:rPr lang="en-US" sz="5199" b="1">
                <a:solidFill>
                  <a:srgbClr val="FFFFFF"/>
                </a:solidFill>
                <a:latin typeface="Canva Sans Bold"/>
                <a:ea typeface="Canva Sans Bold"/>
                <a:cs typeface="Canva Sans Bold"/>
                <a:sym typeface="Canva Sans Bold"/>
              </a:rPr>
              <a:t>44%</a:t>
            </a:r>
          </a:p>
        </p:txBody>
      </p:sp>
      <p:sp>
        <p:nvSpPr>
          <p:cNvPr id="12" name="TextBox 12"/>
          <p:cNvSpPr txBox="1"/>
          <p:nvPr/>
        </p:nvSpPr>
        <p:spPr>
          <a:xfrm>
            <a:off x="1241176" y="7314566"/>
            <a:ext cx="4053292" cy="815340"/>
          </a:xfrm>
          <a:prstGeom prst="rect">
            <a:avLst/>
          </a:prstGeom>
        </p:spPr>
        <p:txBody>
          <a:bodyPr lIns="0" tIns="0" rIns="0" bIns="0" rtlCol="0" anchor="t">
            <a:spAutoFit/>
          </a:bodyPr>
          <a:lstStyle/>
          <a:p>
            <a:pPr algn="ctr">
              <a:lnSpc>
                <a:spcPts val="3359"/>
              </a:lnSpc>
            </a:pPr>
            <a:r>
              <a:rPr lang="en-US" sz="2400">
                <a:solidFill>
                  <a:srgbClr val="FFFFFF"/>
                </a:solidFill>
                <a:latin typeface="Canva Sans"/>
                <a:ea typeface="Canva Sans"/>
                <a:cs typeface="Canva Sans"/>
                <a:sym typeface="Canva Sans"/>
              </a:rPr>
              <a:t>Of customers had taken loans</a:t>
            </a:r>
          </a:p>
        </p:txBody>
      </p:sp>
      <p:grpSp>
        <p:nvGrpSpPr>
          <p:cNvPr id="13" name="Group 13"/>
          <p:cNvGrpSpPr/>
          <p:nvPr/>
        </p:nvGrpSpPr>
        <p:grpSpPr>
          <a:xfrm>
            <a:off x="5840318" y="2109172"/>
            <a:ext cx="4478243" cy="3406774"/>
            <a:chOff x="0" y="0"/>
            <a:chExt cx="1179455" cy="897257"/>
          </a:xfrm>
        </p:grpSpPr>
        <p:sp>
          <p:nvSpPr>
            <p:cNvPr id="14" name="Freeform 14"/>
            <p:cNvSpPr/>
            <p:nvPr/>
          </p:nvSpPr>
          <p:spPr>
            <a:xfrm>
              <a:off x="0" y="0"/>
              <a:ext cx="1179455" cy="897257"/>
            </a:xfrm>
            <a:custGeom>
              <a:avLst/>
              <a:gdLst/>
              <a:ahLst/>
              <a:cxnLst/>
              <a:rect l="l" t="t" r="r" b="b"/>
              <a:pathLst>
                <a:path w="1179455" h="897257">
                  <a:moveTo>
                    <a:pt x="0" y="0"/>
                  </a:moveTo>
                  <a:lnTo>
                    <a:pt x="1179455" y="0"/>
                  </a:lnTo>
                  <a:lnTo>
                    <a:pt x="1179455" y="897257"/>
                  </a:lnTo>
                  <a:lnTo>
                    <a:pt x="0" y="897257"/>
                  </a:lnTo>
                  <a:close/>
                </a:path>
              </a:pathLst>
            </a:custGeom>
            <a:solidFill>
              <a:srgbClr val="006D78"/>
            </a:solidFill>
          </p:spPr>
        </p:sp>
        <p:sp>
          <p:nvSpPr>
            <p:cNvPr id="15" name="TextBox 15"/>
            <p:cNvSpPr txBox="1"/>
            <p:nvPr/>
          </p:nvSpPr>
          <p:spPr>
            <a:xfrm>
              <a:off x="0" y="-38100"/>
              <a:ext cx="1179455" cy="935357"/>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6"/>
          <p:cNvSpPr txBox="1"/>
          <p:nvPr/>
        </p:nvSpPr>
        <p:spPr>
          <a:xfrm>
            <a:off x="5840318" y="2723217"/>
            <a:ext cx="4478243" cy="887095"/>
          </a:xfrm>
          <a:prstGeom prst="rect">
            <a:avLst/>
          </a:prstGeom>
        </p:spPr>
        <p:txBody>
          <a:bodyPr lIns="0" tIns="0" rIns="0" bIns="0" rtlCol="0" anchor="t">
            <a:spAutoFit/>
          </a:bodyPr>
          <a:lstStyle/>
          <a:p>
            <a:pPr algn="ctr">
              <a:lnSpc>
                <a:spcPts val="7279"/>
              </a:lnSpc>
            </a:pPr>
            <a:r>
              <a:rPr lang="en-US" sz="5199" b="1">
                <a:solidFill>
                  <a:srgbClr val="FFFFFF"/>
                </a:solidFill>
                <a:latin typeface="Canva Sans Bold"/>
                <a:ea typeface="Canva Sans Bold"/>
                <a:cs typeface="Canva Sans Bold"/>
                <a:sym typeface="Canva Sans Bold"/>
              </a:rPr>
              <a:t>LKR 378M</a:t>
            </a:r>
          </a:p>
        </p:txBody>
      </p:sp>
      <p:sp>
        <p:nvSpPr>
          <p:cNvPr id="17" name="TextBox 17"/>
          <p:cNvSpPr txBox="1"/>
          <p:nvPr/>
        </p:nvSpPr>
        <p:spPr>
          <a:xfrm>
            <a:off x="6052794" y="3572212"/>
            <a:ext cx="4053292" cy="1234440"/>
          </a:xfrm>
          <a:prstGeom prst="rect">
            <a:avLst/>
          </a:prstGeom>
        </p:spPr>
        <p:txBody>
          <a:bodyPr lIns="0" tIns="0" rIns="0" bIns="0" rtlCol="0" anchor="t">
            <a:spAutoFit/>
          </a:bodyPr>
          <a:lstStyle/>
          <a:p>
            <a:pPr algn="ctr">
              <a:lnSpc>
                <a:spcPts val="3359"/>
              </a:lnSpc>
            </a:pPr>
            <a:r>
              <a:rPr lang="en-US" sz="2400">
                <a:solidFill>
                  <a:srgbClr val="FFFFFF"/>
                </a:solidFill>
                <a:latin typeface="Canva Sans"/>
                <a:ea typeface="Canva Sans"/>
                <a:cs typeface="Canva Sans"/>
                <a:sym typeface="Canva Sans"/>
              </a:rPr>
              <a:t>The savings held by over 489 customers containing a usable balance</a:t>
            </a:r>
          </a:p>
        </p:txBody>
      </p:sp>
      <p:grpSp>
        <p:nvGrpSpPr>
          <p:cNvPr id="18" name="Group 18"/>
          <p:cNvGrpSpPr/>
          <p:nvPr/>
        </p:nvGrpSpPr>
        <p:grpSpPr>
          <a:xfrm>
            <a:off x="5840318" y="5851526"/>
            <a:ext cx="4478243" cy="3406774"/>
            <a:chOff x="0" y="0"/>
            <a:chExt cx="1179455" cy="897257"/>
          </a:xfrm>
        </p:grpSpPr>
        <p:sp>
          <p:nvSpPr>
            <p:cNvPr id="19" name="Freeform 19"/>
            <p:cNvSpPr/>
            <p:nvPr/>
          </p:nvSpPr>
          <p:spPr>
            <a:xfrm>
              <a:off x="0" y="0"/>
              <a:ext cx="1179455" cy="897257"/>
            </a:xfrm>
            <a:custGeom>
              <a:avLst/>
              <a:gdLst/>
              <a:ahLst/>
              <a:cxnLst/>
              <a:rect l="l" t="t" r="r" b="b"/>
              <a:pathLst>
                <a:path w="1179455" h="897257">
                  <a:moveTo>
                    <a:pt x="0" y="0"/>
                  </a:moveTo>
                  <a:lnTo>
                    <a:pt x="1179455" y="0"/>
                  </a:lnTo>
                  <a:lnTo>
                    <a:pt x="1179455" y="897257"/>
                  </a:lnTo>
                  <a:lnTo>
                    <a:pt x="0" y="897257"/>
                  </a:lnTo>
                  <a:close/>
                </a:path>
              </a:pathLst>
            </a:custGeom>
            <a:solidFill>
              <a:srgbClr val="006D78"/>
            </a:solidFill>
          </p:spPr>
        </p:sp>
        <p:sp>
          <p:nvSpPr>
            <p:cNvPr id="20" name="TextBox 20"/>
            <p:cNvSpPr txBox="1"/>
            <p:nvPr/>
          </p:nvSpPr>
          <p:spPr>
            <a:xfrm>
              <a:off x="0" y="-38100"/>
              <a:ext cx="1179455" cy="935357"/>
            </a:xfrm>
            <a:prstGeom prst="rect">
              <a:avLst/>
            </a:prstGeom>
          </p:spPr>
          <p:txBody>
            <a:bodyPr lIns="50800" tIns="50800" rIns="50800" bIns="50800" rtlCol="0" anchor="ctr"/>
            <a:lstStyle/>
            <a:p>
              <a:pPr algn="ctr">
                <a:lnSpc>
                  <a:spcPts val="2659"/>
                </a:lnSpc>
                <a:spcBef>
                  <a:spcPct val="0"/>
                </a:spcBef>
              </a:pPr>
              <a:endParaRPr/>
            </a:p>
          </p:txBody>
        </p:sp>
      </p:grpSp>
      <p:sp>
        <p:nvSpPr>
          <p:cNvPr id="21" name="TextBox 21"/>
          <p:cNvSpPr txBox="1"/>
          <p:nvPr/>
        </p:nvSpPr>
        <p:spPr>
          <a:xfrm>
            <a:off x="5840318" y="6465570"/>
            <a:ext cx="4478243" cy="887095"/>
          </a:xfrm>
          <a:prstGeom prst="rect">
            <a:avLst/>
          </a:prstGeom>
        </p:spPr>
        <p:txBody>
          <a:bodyPr lIns="0" tIns="0" rIns="0" bIns="0" rtlCol="0" anchor="t">
            <a:spAutoFit/>
          </a:bodyPr>
          <a:lstStyle/>
          <a:p>
            <a:pPr algn="ctr">
              <a:lnSpc>
                <a:spcPts val="7279"/>
              </a:lnSpc>
            </a:pPr>
            <a:r>
              <a:rPr lang="en-US" sz="5199" b="1">
                <a:solidFill>
                  <a:srgbClr val="FFFFFF"/>
                </a:solidFill>
                <a:latin typeface="Canva Sans Bold"/>
                <a:ea typeface="Canva Sans Bold"/>
                <a:cs typeface="Canva Sans Bold"/>
                <a:sym typeface="Canva Sans Bold"/>
              </a:rPr>
              <a:t>10.5%</a:t>
            </a:r>
          </a:p>
        </p:txBody>
      </p:sp>
      <p:sp>
        <p:nvSpPr>
          <p:cNvPr id="22" name="TextBox 22"/>
          <p:cNvSpPr txBox="1"/>
          <p:nvPr/>
        </p:nvSpPr>
        <p:spPr>
          <a:xfrm>
            <a:off x="6052794" y="7314566"/>
            <a:ext cx="4053292" cy="396240"/>
          </a:xfrm>
          <a:prstGeom prst="rect">
            <a:avLst/>
          </a:prstGeom>
        </p:spPr>
        <p:txBody>
          <a:bodyPr lIns="0" tIns="0" rIns="0" bIns="0" rtlCol="0" anchor="t">
            <a:spAutoFit/>
          </a:bodyPr>
          <a:lstStyle/>
          <a:p>
            <a:pPr algn="ctr">
              <a:lnSpc>
                <a:spcPts val="3359"/>
              </a:lnSpc>
            </a:pPr>
            <a:r>
              <a:rPr lang="en-US" sz="2400">
                <a:solidFill>
                  <a:srgbClr val="FFFFFF"/>
                </a:solidFill>
                <a:latin typeface="Canva Sans"/>
                <a:ea typeface="Canva Sans"/>
                <a:cs typeface="Canva Sans"/>
                <a:sym typeface="Canva Sans"/>
              </a:rPr>
              <a:t>Of these loans in default</a:t>
            </a:r>
          </a:p>
        </p:txBody>
      </p:sp>
      <p:sp>
        <p:nvSpPr>
          <p:cNvPr id="23" name="TextBox 23"/>
          <p:cNvSpPr txBox="1"/>
          <p:nvPr/>
        </p:nvSpPr>
        <p:spPr>
          <a:xfrm>
            <a:off x="10651937" y="2071072"/>
            <a:ext cx="6607363" cy="5844540"/>
          </a:xfrm>
          <a:prstGeom prst="rect">
            <a:avLst/>
          </a:prstGeom>
        </p:spPr>
        <p:txBody>
          <a:bodyPr lIns="0" tIns="0" rIns="0" bIns="0" rtlCol="0" anchor="t">
            <a:spAutoFit/>
          </a:bodyPr>
          <a:lstStyle/>
          <a:p>
            <a:pPr algn="just">
              <a:lnSpc>
                <a:spcPts val="3359"/>
              </a:lnSpc>
            </a:pPr>
            <a:r>
              <a:rPr lang="en-US" sz="2400">
                <a:solidFill>
                  <a:srgbClr val="000000"/>
                </a:solidFill>
                <a:latin typeface="Canva Sans"/>
                <a:ea typeface="Canva Sans"/>
                <a:cs typeface="Canva Sans"/>
                <a:sym typeface="Canva Sans"/>
              </a:rPr>
              <a:t>What was cleaned up?</a:t>
            </a:r>
          </a:p>
          <a:p>
            <a:pPr marL="518160" lvl="1" indent="-259080" algn="l">
              <a:lnSpc>
                <a:spcPts val="3359"/>
              </a:lnSpc>
              <a:buFont typeface="Arial"/>
              <a:buChar char="•"/>
            </a:pPr>
            <a:r>
              <a:rPr lang="en-US" sz="2400" b="1">
                <a:solidFill>
                  <a:srgbClr val="000000"/>
                </a:solidFill>
                <a:latin typeface="Canva Sans Bold"/>
                <a:ea typeface="Canva Sans Bold"/>
                <a:cs typeface="Canva Sans Bold"/>
                <a:sym typeface="Canva Sans Bold"/>
              </a:rPr>
              <a:t>Duplicates: </a:t>
            </a:r>
            <a:r>
              <a:rPr lang="en-US" sz="2400">
                <a:solidFill>
                  <a:srgbClr val="000000"/>
                </a:solidFill>
                <a:latin typeface="Canva Sans"/>
                <a:ea typeface="Canva Sans"/>
                <a:cs typeface="Canva Sans"/>
                <a:sym typeface="Canva Sans"/>
              </a:rPr>
              <a:t>Removed 8 Repeated Customer IDs.</a:t>
            </a:r>
          </a:p>
          <a:p>
            <a:pPr marL="518160" lvl="1" indent="-259080" algn="l">
              <a:lnSpc>
                <a:spcPts val="3359"/>
              </a:lnSpc>
              <a:buFont typeface="Arial"/>
              <a:buChar char="•"/>
            </a:pPr>
            <a:r>
              <a:rPr lang="en-US" sz="2400" b="1">
                <a:solidFill>
                  <a:srgbClr val="000000"/>
                </a:solidFill>
                <a:latin typeface="Canva Sans Bold"/>
                <a:ea typeface="Canva Sans Bold"/>
                <a:cs typeface="Canva Sans Bold"/>
                <a:sym typeface="Canva Sans Bold"/>
              </a:rPr>
              <a:t>Placeholders: </a:t>
            </a:r>
            <a:r>
              <a:rPr lang="en-US" sz="2400">
                <a:solidFill>
                  <a:srgbClr val="000000"/>
                </a:solidFill>
                <a:latin typeface="Canva Sans"/>
                <a:ea typeface="Canva Sans"/>
                <a:cs typeface="Canva Sans"/>
                <a:sym typeface="Canva Sans"/>
              </a:rPr>
              <a:t>999,999,999 savings and 9,999,999 withdrawals corrected</a:t>
            </a:r>
          </a:p>
          <a:p>
            <a:pPr marL="518160" lvl="1" indent="-259080" algn="l">
              <a:lnSpc>
                <a:spcPts val="3359"/>
              </a:lnSpc>
              <a:buFont typeface="Arial"/>
              <a:buChar char="•"/>
            </a:pPr>
            <a:r>
              <a:rPr lang="en-US" sz="2400" b="1">
                <a:solidFill>
                  <a:srgbClr val="000000"/>
                </a:solidFill>
                <a:latin typeface="Canva Sans Bold"/>
                <a:ea typeface="Canva Sans Bold"/>
                <a:cs typeface="Canva Sans Bold"/>
                <a:sym typeface="Canva Sans Bold"/>
              </a:rPr>
              <a:t>Impossible values: </a:t>
            </a:r>
            <a:r>
              <a:rPr lang="en-US" sz="2400">
                <a:solidFill>
                  <a:srgbClr val="000000"/>
                </a:solidFill>
                <a:latin typeface="Canva Sans"/>
                <a:ea typeface="Canva Sans"/>
                <a:cs typeface="Canva Sans"/>
                <a:sym typeface="Canva Sans"/>
              </a:rPr>
              <a:t>4 ages rebuilt from date of birth; 4 negative balances blanked and flagged; 5 future dates blanked</a:t>
            </a:r>
          </a:p>
          <a:p>
            <a:pPr marL="518160" lvl="1" indent="-259080" algn="l">
              <a:lnSpc>
                <a:spcPts val="3359"/>
              </a:lnSpc>
              <a:buFont typeface="Arial"/>
              <a:buChar char="•"/>
            </a:pPr>
            <a:r>
              <a:rPr lang="en-US" sz="2400" b="1">
                <a:solidFill>
                  <a:srgbClr val="000000"/>
                </a:solidFill>
                <a:latin typeface="Canva Sans Bold"/>
                <a:ea typeface="Canva Sans Bold"/>
                <a:cs typeface="Canva Sans Bold"/>
                <a:sym typeface="Canva Sans Bold"/>
              </a:rPr>
              <a:t>Blank categories: </a:t>
            </a:r>
            <a:r>
              <a:rPr lang="en-US" sz="2400">
                <a:solidFill>
                  <a:srgbClr val="000000"/>
                </a:solidFill>
                <a:latin typeface="Canva Sans"/>
                <a:ea typeface="Canva Sans"/>
                <a:cs typeface="Canva Sans"/>
                <a:sym typeface="Canva Sans"/>
              </a:rPr>
              <a:t>17 labelled Unknown, so no customer is dropped</a:t>
            </a:r>
          </a:p>
          <a:p>
            <a:pPr marL="518160" lvl="1" indent="-259080" algn="l">
              <a:lnSpc>
                <a:spcPts val="3359"/>
              </a:lnSpc>
              <a:buFont typeface="Arial"/>
              <a:buChar char="•"/>
            </a:pPr>
            <a:r>
              <a:rPr lang="en-US" sz="2400" b="1">
                <a:solidFill>
                  <a:srgbClr val="000000"/>
                </a:solidFill>
                <a:latin typeface="Canva Sans Bold"/>
                <a:ea typeface="Canva Sans Bold"/>
                <a:cs typeface="Canva Sans Bold"/>
                <a:sym typeface="Canva Sans Bold"/>
              </a:rPr>
              <a:t>Rule: </a:t>
            </a:r>
            <a:r>
              <a:rPr lang="en-US" sz="2400">
                <a:solidFill>
                  <a:srgbClr val="000000"/>
                </a:solidFill>
                <a:latin typeface="Canva Sans"/>
                <a:ea typeface="Canva Sans"/>
                <a:cs typeface="Canva Sans"/>
                <a:sym typeface="Canva Sans"/>
              </a:rPr>
              <a:t>never invent a number. Every change is in a cleaning log.</a:t>
            </a:r>
          </a:p>
          <a:p>
            <a:pPr algn="l">
              <a:lnSpc>
                <a:spcPts val="3359"/>
              </a:lnSpc>
            </a:pPr>
            <a:endParaRPr lang="en-US" sz="2400">
              <a:solidFill>
                <a:srgbClr val="000000"/>
              </a:solidFill>
              <a:latin typeface="Canva Sans"/>
              <a:ea typeface="Canva Sans"/>
              <a:cs typeface="Canva Sans"/>
              <a:sym typeface="Canva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3073840"/>
            <a:ext cx="9081930" cy="5629160"/>
          </a:xfrm>
          <a:custGeom>
            <a:avLst/>
            <a:gdLst/>
            <a:ahLst/>
            <a:cxnLst/>
            <a:rect l="l" t="t" r="r" b="b"/>
            <a:pathLst>
              <a:path w="9081930" h="5629160">
                <a:moveTo>
                  <a:pt x="0" y="0"/>
                </a:moveTo>
                <a:lnTo>
                  <a:pt x="9081930" y="0"/>
                </a:lnTo>
                <a:lnTo>
                  <a:pt x="9081930" y="5629160"/>
                </a:lnTo>
                <a:lnTo>
                  <a:pt x="0" y="5629160"/>
                </a:lnTo>
                <a:lnTo>
                  <a:pt x="0" y="0"/>
                </a:lnTo>
                <a:close/>
              </a:path>
            </a:pathLst>
          </a:custGeom>
          <a:blipFill>
            <a:blip r:embed="rId2"/>
            <a:stretch>
              <a:fillRect/>
            </a:stretch>
          </a:blipFill>
        </p:spPr>
      </p:sp>
      <p:sp>
        <p:nvSpPr>
          <p:cNvPr id="3" name="TextBox 3"/>
          <p:cNvSpPr txBox="1"/>
          <p:nvPr/>
        </p:nvSpPr>
        <p:spPr>
          <a:xfrm>
            <a:off x="1028700" y="933450"/>
            <a:ext cx="14674602" cy="887095"/>
          </a:xfrm>
          <a:prstGeom prst="rect">
            <a:avLst/>
          </a:prstGeom>
        </p:spPr>
        <p:txBody>
          <a:bodyPr lIns="0" tIns="0" rIns="0" bIns="0" rtlCol="0" anchor="t">
            <a:spAutoFit/>
          </a:bodyPr>
          <a:lstStyle/>
          <a:p>
            <a:pPr algn="l">
              <a:lnSpc>
                <a:spcPts val="7279"/>
              </a:lnSpc>
            </a:pPr>
            <a:r>
              <a:rPr lang="en-US" sz="5199">
                <a:solidFill>
                  <a:srgbClr val="000000"/>
                </a:solidFill>
                <a:latin typeface="Canva Sans"/>
                <a:ea typeface="Canva Sans"/>
                <a:cs typeface="Canva Sans"/>
                <a:sym typeface="Canva Sans"/>
              </a:rPr>
              <a:t>Section 2 - Q1 - Savings &amp; Customer Behaviour</a:t>
            </a:r>
          </a:p>
        </p:txBody>
      </p:sp>
      <p:grpSp>
        <p:nvGrpSpPr>
          <p:cNvPr id="4" name="Group 4"/>
          <p:cNvGrpSpPr/>
          <p:nvPr/>
        </p:nvGrpSpPr>
        <p:grpSpPr>
          <a:xfrm>
            <a:off x="12931496" y="2048625"/>
            <a:ext cx="2771806" cy="2108620"/>
            <a:chOff x="0" y="0"/>
            <a:chExt cx="1179455" cy="897257"/>
          </a:xfrm>
        </p:grpSpPr>
        <p:sp>
          <p:nvSpPr>
            <p:cNvPr id="5" name="Freeform 5"/>
            <p:cNvSpPr/>
            <p:nvPr/>
          </p:nvSpPr>
          <p:spPr>
            <a:xfrm>
              <a:off x="0" y="0"/>
              <a:ext cx="1179455" cy="897257"/>
            </a:xfrm>
            <a:custGeom>
              <a:avLst/>
              <a:gdLst/>
              <a:ahLst/>
              <a:cxnLst/>
              <a:rect l="l" t="t" r="r" b="b"/>
              <a:pathLst>
                <a:path w="1179455" h="897257">
                  <a:moveTo>
                    <a:pt x="0" y="0"/>
                  </a:moveTo>
                  <a:lnTo>
                    <a:pt x="1179455" y="0"/>
                  </a:lnTo>
                  <a:lnTo>
                    <a:pt x="1179455" y="897257"/>
                  </a:lnTo>
                  <a:lnTo>
                    <a:pt x="0" y="897257"/>
                  </a:lnTo>
                  <a:close/>
                </a:path>
              </a:pathLst>
            </a:custGeom>
            <a:solidFill>
              <a:srgbClr val="006D78"/>
            </a:solidFill>
          </p:spPr>
        </p:sp>
        <p:sp>
          <p:nvSpPr>
            <p:cNvPr id="6" name="TextBox 6"/>
            <p:cNvSpPr txBox="1"/>
            <p:nvPr/>
          </p:nvSpPr>
          <p:spPr>
            <a:xfrm>
              <a:off x="0" y="-38100"/>
              <a:ext cx="1179455" cy="935357"/>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12931496" y="2420967"/>
            <a:ext cx="2771806" cy="556424"/>
          </a:xfrm>
          <a:prstGeom prst="rect">
            <a:avLst/>
          </a:prstGeom>
        </p:spPr>
        <p:txBody>
          <a:bodyPr lIns="0" tIns="0" rIns="0" bIns="0" rtlCol="0" anchor="t">
            <a:spAutoFit/>
          </a:bodyPr>
          <a:lstStyle/>
          <a:p>
            <a:pPr algn="ctr">
              <a:lnSpc>
                <a:spcPts val="4505"/>
              </a:lnSpc>
            </a:pPr>
            <a:r>
              <a:rPr lang="en-US" sz="3218" b="1">
                <a:solidFill>
                  <a:srgbClr val="FFFFFF"/>
                </a:solidFill>
                <a:latin typeface="Canva Sans Bold"/>
                <a:ea typeface="Canva Sans Bold"/>
                <a:cs typeface="Canva Sans Bold"/>
                <a:sym typeface="Canva Sans Bold"/>
              </a:rPr>
              <a:t>30x</a:t>
            </a:r>
          </a:p>
        </p:txBody>
      </p:sp>
      <p:sp>
        <p:nvSpPr>
          <p:cNvPr id="8" name="TextBox 8"/>
          <p:cNvSpPr txBox="1"/>
          <p:nvPr/>
        </p:nvSpPr>
        <p:spPr>
          <a:xfrm>
            <a:off x="13063008" y="2949179"/>
            <a:ext cx="2508782" cy="1077218"/>
          </a:xfrm>
          <a:prstGeom prst="rect">
            <a:avLst/>
          </a:prstGeom>
        </p:spPr>
        <p:txBody>
          <a:bodyPr lIns="0" tIns="0" rIns="0" bIns="0" rtlCol="0" anchor="t">
            <a:spAutoFit/>
          </a:bodyPr>
          <a:lstStyle/>
          <a:p>
            <a:pPr algn="ctr">
              <a:lnSpc>
                <a:spcPts val="2079"/>
              </a:lnSpc>
            </a:pPr>
            <a:r>
              <a:rPr lang="en-US" sz="1485" dirty="0">
                <a:solidFill>
                  <a:schemeClr val="bg1"/>
                </a:solidFill>
                <a:latin typeface="Canva Sans"/>
                <a:ea typeface="Canva Sans"/>
                <a:cs typeface="Canva Sans"/>
                <a:sym typeface="Canva Sans"/>
              </a:rPr>
              <a:t>A typical Premium balance compared with a Starter balance</a:t>
            </a:r>
          </a:p>
          <a:p>
            <a:pPr algn="ctr">
              <a:lnSpc>
                <a:spcPts val="2079"/>
              </a:lnSpc>
            </a:pPr>
            <a:endParaRPr lang="en-US" sz="1485" dirty="0">
              <a:solidFill>
                <a:schemeClr val="bg1"/>
              </a:solidFill>
              <a:latin typeface="Canva Sans"/>
              <a:ea typeface="Canva Sans"/>
              <a:cs typeface="Canva Sans"/>
              <a:sym typeface="Canva Sans"/>
            </a:endParaRPr>
          </a:p>
        </p:txBody>
      </p:sp>
      <p:grpSp>
        <p:nvGrpSpPr>
          <p:cNvPr id="9" name="Group 9"/>
          <p:cNvGrpSpPr/>
          <p:nvPr/>
        </p:nvGrpSpPr>
        <p:grpSpPr>
          <a:xfrm>
            <a:off x="12931496" y="4414310"/>
            <a:ext cx="2771806" cy="2108620"/>
            <a:chOff x="0" y="0"/>
            <a:chExt cx="1179455" cy="897257"/>
          </a:xfrm>
        </p:grpSpPr>
        <p:sp>
          <p:nvSpPr>
            <p:cNvPr id="10" name="Freeform 10"/>
            <p:cNvSpPr/>
            <p:nvPr/>
          </p:nvSpPr>
          <p:spPr>
            <a:xfrm>
              <a:off x="0" y="0"/>
              <a:ext cx="1179455" cy="897257"/>
            </a:xfrm>
            <a:custGeom>
              <a:avLst/>
              <a:gdLst/>
              <a:ahLst/>
              <a:cxnLst/>
              <a:rect l="l" t="t" r="r" b="b"/>
              <a:pathLst>
                <a:path w="1179455" h="897257">
                  <a:moveTo>
                    <a:pt x="0" y="0"/>
                  </a:moveTo>
                  <a:lnTo>
                    <a:pt x="1179455" y="0"/>
                  </a:lnTo>
                  <a:lnTo>
                    <a:pt x="1179455" y="897257"/>
                  </a:lnTo>
                  <a:lnTo>
                    <a:pt x="0" y="897257"/>
                  </a:lnTo>
                  <a:close/>
                </a:path>
              </a:pathLst>
            </a:custGeom>
            <a:solidFill>
              <a:srgbClr val="006D78"/>
            </a:solidFill>
          </p:spPr>
        </p:sp>
        <p:sp>
          <p:nvSpPr>
            <p:cNvPr id="11" name="TextBox 11"/>
            <p:cNvSpPr txBox="1"/>
            <p:nvPr/>
          </p:nvSpPr>
          <p:spPr>
            <a:xfrm>
              <a:off x="0" y="-38100"/>
              <a:ext cx="1179455" cy="935357"/>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12931496" y="4786652"/>
            <a:ext cx="2771806" cy="556424"/>
          </a:xfrm>
          <a:prstGeom prst="rect">
            <a:avLst/>
          </a:prstGeom>
        </p:spPr>
        <p:txBody>
          <a:bodyPr lIns="0" tIns="0" rIns="0" bIns="0" rtlCol="0" anchor="t">
            <a:spAutoFit/>
          </a:bodyPr>
          <a:lstStyle/>
          <a:p>
            <a:pPr algn="ctr">
              <a:lnSpc>
                <a:spcPts val="4505"/>
              </a:lnSpc>
            </a:pPr>
            <a:r>
              <a:rPr lang="en-US" sz="3218" b="1">
                <a:solidFill>
                  <a:srgbClr val="FFFFFF"/>
                </a:solidFill>
                <a:latin typeface="Canva Sans Bold"/>
                <a:ea typeface="Canva Sans Bold"/>
                <a:cs typeface="Canva Sans Bold"/>
                <a:sym typeface="Canva Sans Bold"/>
              </a:rPr>
              <a:t>25 → 34</a:t>
            </a:r>
          </a:p>
        </p:txBody>
      </p:sp>
      <p:sp>
        <p:nvSpPr>
          <p:cNvPr id="13" name="TextBox 13"/>
          <p:cNvSpPr txBox="1"/>
          <p:nvPr/>
        </p:nvSpPr>
        <p:spPr>
          <a:xfrm>
            <a:off x="13063008" y="5314864"/>
            <a:ext cx="2508782" cy="430887"/>
          </a:xfrm>
          <a:prstGeom prst="rect">
            <a:avLst/>
          </a:prstGeom>
        </p:spPr>
        <p:txBody>
          <a:bodyPr lIns="0" tIns="0" rIns="0" bIns="0" rtlCol="0" anchor="t">
            <a:spAutoFit/>
          </a:bodyPr>
          <a:lstStyle/>
          <a:p>
            <a:pPr algn="ctr"/>
            <a:r>
              <a:rPr lang="en-US" sz="1400" dirty="0">
                <a:solidFill>
                  <a:schemeClr val="bg1"/>
                </a:solidFill>
                <a:latin typeface="Segoe UI" pitchFamily="34" charset="0"/>
                <a:ea typeface="Segoe UI" pitchFamily="34" charset="-122"/>
                <a:cs typeface="Segoe UI" pitchFamily="34" charset="-120"/>
              </a:rPr>
              <a:t>is the age group holding the most savings overall</a:t>
            </a:r>
            <a:endParaRPr lang="en-US" sz="1400" dirty="0">
              <a:solidFill>
                <a:schemeClr val="bg1"/>
              </a:solidFill>
            </a:endParaRPr>
          </a:p>
        </p:txBody>
      </p:sp>
      <p:sp>
        <p:nvSpPr>
          <p:cNvPr id="14" name="TextBox 14"/>
          <p:cNvSpPr txBox="1"/>
          <p:nvPr/>
        </p:nvSpPr>
        <p:spPr>
          <a:xfrm>
            <a:off x="10949217" y="6712910"/>
            <a:ext cx="6310083" cy="1990090"/>
          </a:xfrm>
          <a:prstGeom prst="rect">
            <a:avLst/>
          </a:prstGeom>
        </p:spPr>
        <p:txBody>
          <a:bodyPr lIns="0" tIns="0" rIns="0" bIns="0" rtlCol="0" anchor="t">
            <a:spAutoFit/>
          </a:bodyPr>
          <a:lstStyle/>
          <a:p>
            <a:pPr algn="just">
              <a:lnSpc>
                <a:spcPts val="2659"/>
              </a:lnSpc>
              <a:spcBef>
                <a:spcPct val="0"/>
              </a:spcBef>
            </a:pPr>
            <a:r>
              <a:rPr lang="en-US" sz="1899" b="1">
                <a:solidFill>
                  <a:srgbClr val="000000"/>
                </a:solidFill>
                <a:latin typeface="Canva Sans Bold"/>
                <a:ea typeface="Canva Sans Bold"/>
                <a:cs typeface="Canva Sans Bold"/>
                <a:sym typeface="Canva Sans Bold"/>
              </a:rPr>
              <a:t>Key Insight &amp; Recommendation:</a:t>
            </a:r>
            <a:r>
              <a:rPr lang="en-US" sz="1899">
                <a:solidFill>
                  <a:srgbClr val="000000"/>
                </a:solidFill>
                <a:latin typeface="Canva Sans"/>
                <a:ea typeface="Canva Sans"/>
                <a:cs typeface="Canva Sans"/>
                <a:sym typeface="Canva Sans"/>
              </a:rPr>
              <a:t> Premium customers hold significantly higher median savings, making them ideal for targeted investment and premium product offers. Provide affordable savings plans to Regular and Starter customers to encourage growth and wider product adoption.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639101" y="3165582"/>
            <a:ext cx="2771806" cy="2108620"/>
            <a:chOff x="0" y="0"/>
            <a:chExt cx="1179455" cy="897257"/>
          </a:xfrm>
        </p:grpSpPr>
        <p:sp>
          <p:nvSpPr>
            <p:cNvPr id="3" name="Freeform 3"/>
            <p:cNvSpPr/>
            <p:nvPr/>
          </p:nvSpPr>
          <p:spPr>
            <a:xfrm>
              <a:off x="0" y="0"/>
              <a:ext cx="1179455" cy="897257"/>
            </a:xfrm>
            <a:custGeom>
              <a:avLst/>
              <a:gdLst/>
              <a:ahLst/>
              <a:cxnLst/>
              <a:rect l="l" t="t" r="r" b="b"/>
              <a:pathLst>
                <a:path w="1179455" h="897257">
                  <a:moveTo>
                    <a:pt x="0" y="0"/>
                  </a:moveTo>
                  <a:lnTo>
                    <a:pt x="1179455" y="0"/>
                  </a:lnTo>
                  <a:lnTo>
                    <a:pt x="1179455" y="897257"/>
                  </a:lnTo>
                  <a:lnTo>
                    <a:pt x="0" y="897257"/>
                  </a:lnTo>
                  <a:close/>
                </a:path>
              </a:pathLst>
            </a:custGeom>
            <a:solidFill>
              <a:srgbClr val="006D78"/>
            </a:solidFill>
          </p:spPr>
        </p:sp>
        <p:sp>
          <p:nvSpPr>
            <p:cNvPr id="4" name="TextBox 4"/>
            <p:cNvSpPr txBox="1"/>
            <p:nvPr/>
          </p:nvSpPr>
          <p:spPr>
            <a:xfrm>
              <a:off x="0" y="-38100"/>
              <a:ext cx="1179455" cy="935357"/>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028700" y="2609309"/>
            <a:ext cx="8586565" cy="6093691"/>
          </a:xfrm>
          <a:custGeom>
            <a:avLst/>
            <a:gdLst/>
            <a:ahLst/>
            <a:cxnLst/>
            <a:rect l="l" t="t" r="r" b="b"/>
            <a:pathLst>
              <a:path w="8586565" h="6093691">
                <a:moveTo>
                  <a:pt x="0" y="0"/>
                </a:moveTo>
                <a:lnTo>
                  <a:pt x="8586565" y="0"/>
                </a:lnTo>
                <a:lnTo>
                  <a:pt x="8586565" y="6093691"/>
                </a:lnTo>
                <a:lnTo>
                  <a:pt x="0" y="6093691"/>
                </a:lnTo>
                <a:lnTo>
                  <a:pt x="0" y="0"/>
                </a:lnTo>
                <a:close/>
              </a:path>
            </a:pathLst>
          </a:custGeom>
          <a:blipFill>
            <a:blip r:embed="rId2"/>
            <a:stretch>
              <a:fillRect/>
            </a:stretch>
          </a:blipFill>
        </p:spPr>
      </p:sp>
      <p:sp>
        <p:nvSpPr>
          <p:cNvPr id="6" name="TextBox 6"/>
          <p:cNvSpPr txBox="1"/>
          <p:nvPr/>
        </p:nvSpPr>
        <p:spPr>
          <a:xfrm>
            <a:off x="1028700" y="933450"/>
            <a:ext cx="12307491" cy="887095"/>
          </a:xfrm>
          <a:prstGeom prst="rect">
            <a:avLst/>
          </a:prstGeom>
        </p:spPr>
        <p:txBody>
          <a:bodyPr lIns="0" tIns="0" rIns="0" bIns="0" rtlCol="0" anchor="t">
            <a:spAutoFit/>
          </a:bodyPr>
          <a:lstStyle/>
          <a:p>
            <a:pPr algn="l">
              <a:lnSpc>
                <a:spcPts val="7279"/>
              </a:lnSpc>
            </a:pPr>
            <a:r>
              <a:rPr lang="en-US" sz="5199">
                <a:solidFill>
                  <a:srgbClr val="000000"/>
                </a:solidFill>
                <a:latin typeface="Canva Sans"/>
                <a:ea typeface="Canva Sans"/>
                <a:cs typeface="Canva Sans"/>
                <a:sym typeface="Canva Sans"/>
              </a:rPr>
              <a:t>Section 3 - Q2 - Loan Portfolio and Risk</a:t>
            </a:r>
          </a:p>
        </p:txBody>
      </p:sp>
      <p:sp>
        <p:nvSpPr>
          <p:cNvPr id="7" name="TextBox 7"/>
          <p:cNvSpPr txBox="1"/>
          <p:nvPr/>
        </p:nvSpPr>
        <p:spPr>
          <a:xfrm>
            <a:off x="12639101" y="3537925"/>
            <a:ext cx="2771806" cy="556424"/>
          </a:xfrm>
          <a:prstGeom prst="rect">
            <a:avLst/>
          </a:prstGeom>
        </p:spPr>
        <p:txBody>
          <a:bodyPr lIns="0" tIns="0" rIns="0" bIns="0" rtlCol="0" anchor="t">
            <a:spAutoFit/>
          </a:bodyPr>
          <a:lstStyle/>
          <a:p>
            <a:pPr algn="ctr">
              <a:lnSpc>
                <a:spcPts val="4505"/>
              </a:lnSpc>
            </a:pPr>
            <a:r>
              <a:rPr lang="en-US" sz="3218" b="1">
                <a:solidFill>
                  <a:srgbClr val="FFFFFF"/>
                </a:solidFill>
                <a:latin typeface="Canva Sans Bold"/>
                <a:ea typeface="Canva Sans Bold"/>
                <a:cs typeface="Canva Sans Bold"/>
                <a:sym typeface="Canva Sans Bold"/>
              </a:rPr>
              <a:t>78%</a:t>
            </a:r>
          </a:p>
        </p:txBody>
      </p:sp>
      <p:sp>
        <p:nvSpPr>
          <p:cNvPr id="8" name="TextBox 8"/>
          <p:cNvSpPr txBox="1"/>
          <p:nvPr/>
        </p:nvSpPr>
        <p:spPr>
          <a:xfrm>
            <a:off x="12770613" y="4066137"/>
            <a:ext cx="2508782" cy="1028450"/>
          </a:xfrm>
          <a:prstGeom prst="rect">
            <a:avLst/>
          </a:prstGeom>
        </p:spPr>
        <p:txBody>
          <a:bodyPr lIns="0" tIns="0" rIns="0" bIns="0" rtlCol="0" anchor="t">
            <a:spAutoFit/>
          </a:bodyPr>
          <a:lstStyle/>
          <a:p>
            <a:pPr algn="ctr">
              <a:lnSpc>
                <a:spcPts val="2079"/>
              </a:lnSpc>
            </a:pPr>
            <a:r>
              <a:rPr lang="en-US" sz="1485">
                <a:solidFill>
                  <a:srgbClr val="FFFFFF"/>
                </a:solidFill>
                <a:latin typeface="Canva Sans"/>
                <a:ea typeface="Canva Sans"/>
                <a:cs typeface="Canva Sans"/>
                <a:sym typeface="Canva Sans"/>
              </a:rPr>
              <a:t>of the loan book is owed by customers who owe more than they have saved</a:t>
            </a:r>
          </a:p>
          <a:p>
            <a:pPr algn="ctr">
              <a:lnSpc>
                <a:spcPts val="2079"/>
              </a:lnSpc>
            </a:pPr>
            <a:endParaRPr lang="en-US" sz="1485">
              <a:solidFill>
                <a:srgbClr val="FFFFFF"/>
              </a:solidFill>
              <a:latin typeface="Canva Sans"/>
              <a:ea typeface="Canva Sans"/>
              <a:cs typeface="Canva Sans"/>
              <a:sym typeface="Canva Sans"/>
            </a:endParaRPr>
          </a:p>
        </p:txBody>
      </p:sp>
      <p:sp>
        <p:nvSpPr>
          <p:cNvPr id="9" name="TextBox 9"/>
          <p:cNvSpPr txBox="1"/>
          <p:nvPr/>
        </p:nvSpPr>
        <p:spPr>
          <a:xfrm>
            <a:off x="10656822" y="5464703"/>
            <a:ext cx="6310083" cy="1656715"/>
          </a:xfrm>
          <a:prstGeom prst="rect">
            <a:avLst/>
          </a:prstGeom>
        </p:spPr>
        <p:txBody>
          <a:bodyPr lIns="0" tIns="0" rIns="0" bIns="0" rtlCol="0" anchor="t">
            <a:spAutoFit/>
          </a:bodyPr>
          <a:lstStyle/>
          <a:p>
            <a:pPr algn="just">
              <a:lnSpc>
                <a:spcPts val="2659"/>
              </a:lnSpc>
              <a:spcBef>
                <a:spcPct val="0"/>
              </a:spcBef>
            </a:pPr>
            <a:r>
              <a:rPr lang="en-US" sz="1899" b="1">
                <a:solidFill>
                  <a:srgbClr val="000000"/>
                </a:solidFill>
                <a:latin typeface="Canva Sans Bold"/>
                <a:ea typeface="Canva Sans Bold"/>
                <a:cs typeface="Canva Sans Bold"/>
                <a:sym typeface="Canva Sans Bold"/>
              </a:rPr>
              <a:t>Key Insight &amp; Recommendation: </a:t>
            </a:r>
            <a:r>
              <a:rPr lang="en-US" sz="1899">
                <a:solidFill>
                  <a:srgbClr val="000000"/>
                </a:solidFill>
                <a:latin typeface="Canva Sans"/>
                <a:ea typeface="Canva Sans"/>
                <a:cs typeface="Canva Sans"/>
                <a:sym typeface="Canva Sans"/>
              </a:rPr>
              <a:t>Since most customers have a DSR greater than 1, it warns the organization that most of the customers might default in the future (Not certain, may have other savings/high salary)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29920" y="2781845"/>
            <a:ext cx="7614080" cy="4723311"/>
          </a:xfrm>
          <a:custGeom>
            <a:avLst/>
            <a:gdLst/>
            <a:ahLst/>
            <a:cxnLst/>
            <a:rect l="l" t="t" r="r" b="b"/>
            <a:pathLst>
              <a:path w="7614080" h="4723311">
                <a:moveTo>
                  <a:pt x="0" y="0"/>
                </a:moveTo>
                <a:lnTo>
                  <a:pt x="7614080" y="0"/>
                </a:lnTo>
                <a:lnTo>
                  <a:pt x="7614080" y="4723310"/>
                </a:lnTo>
                <a:lnTo>
                  <a:pt x="0" y="4723310"/>
                </a:lnTo>
                <a:lnTo>
                  <a:pt x="0" y="0"/>
                </a:lnTo>
                <a:close/>
              </a:path>
            </a:pathLst>
          </a:custGeom>
          <a:blipFill>
            <a:blip r:embed="rId2"/>
            <a:stretch>
              <a:fillRect/>
            </a:stretch>
          </a:blipFill>
        </p:spPr>
      </p:sp>
      <p:sp>
        <p:nvSpPr>
          <p:cNvPr id="3" name="Freeform 3"/>
          <p:cNvSpPr/>
          <p:nvPr/>
        </p:nvSpPr>
        <p:spPr>
          <a:xfrm>
            <a:off x="10445077" y="2781845"/>
            <a:ext cx="6814223" cy="4723311"/>
          </a:xfrm>
          <a:custGeom>
            <a:avLst/>
            <a:gdLst/>
            <a:ahLst/>
            <a:cxnLst/>
            <a:rect l="l" t="t" r="r" b="b"/>
            <a:pathLst>
              <a:path w="6814223" h="4723311">
                <a:moveTo>
                  <a:pt x="0" y="0"/>
                </a:moveTo>
                <a:lnTo>
                  <a:pt x="6814223" y="0"/>
                </a:lnTo>
                <a:lnTo>
                  <a:pt x="6814223" y="4723310"/>
                </a:lnTo>
                <a:lnTo>
                  <a:pt x="0" y="4723310"/>
                </a:lnTo>
                <a:lnTo>
                  <a:pt x="0" y="0"/>
                </a:lnTo>
                <a:close/>
              </a:path>
            </a:pathLst>
          </a:custGeom>
          <a:blipFill>
            <a:blip r:embed="rId3"/>
            <a:stretch>
              <a:fillRect r="-4624"/>
            </a:stretch>
          </a:blipFill>
        </p:spPr>
      </p:sp>
      <p:sp>
        <p:nvSpPr>
          <p:cNvPr id="4" name="TextBox 4"/>
          <p:cNvSpPr txBox="1"/>
          <p:nvPr/>
        </p:nvSpPr>
        <p:spPr>
          <a:xfrm>
            <a:off x="1028700" y="933450"/>
            <a:ext cx="12307491" cy="887095"/>
          </a:xfrm>
          <a:prstGeom prst="rect">
            <a:avLst/>
          </a:prstGeom>
        </p:spPr>
        <p:txBody>
          <a:bodyPr lIns="0" tIns="0" rIns="0" bIns="0" rtlCol="0" anchor="t">
            <a:spAutoFit/>
          </a:bodyPr>
          <a:lstStyle/>
          <a:p>
            <a:pPr algn="l">
              <a:lnSpc>
                <a:spcPts val="7279"/>
              </a:lnSpc>
            </a:pPr>
            <a:r>
              <a:rPr lang="en-US" sz="5199">
                <a:solidFill>
                  <a:srgbClr val="000000"/>
                </a:solidFill>
                <a:latin typeface="Canva Sans"/>
                <a:ea typeface="Canva Sans"/>
                <a:cs typeface="Canva Sans"/>
                <a:sym typeface="Canva Sans"/>
              </a:rPr>
              <a:t>Section 3 - Q2 - Loan Portfolio and Risk</a:t>
            </a:r>
          </a:p>
        </p:txBody>
      </p:sp>
      <p:sp>
        <p:nvSpPr>
          <p:cNvPr id="5" name="TextBox 5"/>
          <p:cNvSpPr txBox="1"/>
          <p:nvPr/>
        </p:nvSpPr>
        <p:spPr>
          <a:xfrm>
            <a:off x="1028700" y="8601710"/>
            <a:ext cx="16230600" cy="656590"/>
          </a:xfrm>
          <a:prstGeom prst="rect">
            <a:avLst/>
          </a:prstGeom>
        </p:spPr>
        <p:txBody>
          <a:bodyPr lIns="0" tIns="0" rIns="0" bIns="0" rtlCol="0" anchor="t">
            <a:spAutoFit/>
          </a:bodyPr>
          <a:lstStyle/>
          <a:p>
            <a:pPr algn="just">
              <a:lnSpc>
                <a:spcPts val="2659"/>
              </a:lnSpc>
              <a:spcBef>
                <a:spcPct val="0"/>
              </a:spcBef>
            </a:pPr>
            <a:r>
              <a:rPr lang="en-US" sz="1899" b="1">
                <a:solidFill>
                  <a:srgbClr val="000000"/>
                </a:solidFill>
                <a:latin typeface="Canva Sans Bold"/>
                <a:ea typeface="Canva Sans Bold"/>
                <a:cs typeface="Canva Sans Bold"/>
                <a:sym typeface="Canva Sans Bold"/>
              </a:rPr>
              <a:t>Key Insight &amp; Recommendation: </a:t>
            </a:r>
            <a:r>
              <a:rPr lang="en-US" sz="1899">
                <a:solidFill>
                  <a:srgbClr val="000000"/>
                </a:solidFill>
                <a:latin typeface="Canva Sans"/>
                <a:ea typeface="Canva Sans"/>
                <a:cs typeface="Canva Sans"/>
                <a:sym typeface="Canva Sans"/>
              </a:rPr>
              <a:t>Starter customers with a vehicle loan default 31% of the time. Worth investigating before we lend more.</a:t>
            </a:r>
          </a:p>
          <a:p>
            <a:pPr algn="just">
              <a:lnSpc>
                <a:spcPts val="2659"/>
              </a:lnSpc>
              <a:spcBef>
                <a:spcPct val="0"/>
              </a:spcBef>
            </a:pPr>
            <a:endParaRPr lang="en-US" sz="1899">
              <a:solidFill>
                <a:srgbClr val="000000"/>
              </a:solidFill>
              <a:latin typeface="Canva Sans"/>
              <a:ea typeface="Canva Sans"/>
              <a:cs typeface="Canva Sans"/>
              <a:sym typeface="Canva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3208768"/>
            <a:ext cx="8006500" cy="4966744"/>
          </a:xfrm>
          <a:custGeom>
            <a:avLst/>
            <a:gdLst/>
            <a:ahLst/>
            <a:cxnLst/>
            <a:rect l="l" t="t" r="r" b="b"/>
            <a:pathLst>
              <a:path w="8006500" h="4966744">
                <a:moveTo>
                  <a:pt x="0" y="0"/>
                </a:moveTo>
                <a:lnTo>
                  <a:pt x="8006500" y="0"/>
                </a:lnTo>
                <a:lnTo>
                  <a:pt x="8006500" y="4966744"/>
                </a:lnTo>
                <a:lnTo>
                  <a:pt x="0" y="4966744"/>
                </a:lnTo>
                <a:lnTo>
                  <a:pt x="0" y="0"/>
                </a:lnTo>
                <a:close/>
              </a:path>
            </a:pathLst>
          </a:custGeom>
          <a:blipFill>
            <a:blip r:embed="rId2"/>
            <a:stretch>
              <a:fillRect/>
            </a:stretch>
          </a:blipFill>
        </p:spPr>
      </p:sp>
      <p:sp>
        <p:nvSpPr>
          <p:cNvPr id="3" name="Freeform 3"/>
          <p:cNvSpPr/>
          <p:nvPr/>
        </p:nvSpPr>
        <p:spPr>
          <a:xfrm>
            <a:off x="9361600" y="3208768"/>
            <a:ext cx="7897700" cy="4899251"/>
          </a:xfrm>
          <a:custGeom>
            <a:avLst/>
            <a:gdLst/>
            <a:ahLst/>
            <a:cxnLst/>
            <a:rect l="l" t="t" r="r" b="b"/>
            <a:pathLst>
              <a:path w="7897700" h="4899251">
                <a:moveTo>
                  <a:pt x="0" y="0"/>
                </a:moveTo>
                <a:lnTo>
                  <a:pt x="7897700" y="0"/>
                </a:lnTo>
                <a:lnTo>
                  <a:pt x="7897700" y="4899251"/>
                </a:lnTo>
                <a:lnTo>
                  <a:pt x="0" y="4899251"/>
                </a:lnTo>
                <a:lnTo>
                  <a:pt x="0" y="0"/>
                </a:lnTo>
                <a:close/>
              </a:path>
            </a:pathLst>
          </a:custGeom>
          <a:blipFill>
            <a:blip r:embed="rId3"/>
            <a:stretch>
              <a:fillRect/>
            </a:stretch>
          </a:blipFill>
        </p:spPr>
      </p:sp>
      <p:sp>
        <p:nvSpPr>
          <p:cNvPr id="4" name="TextBox 4"/>
          <p:cNvSpPr txBox="1"/>
          <p:nvPr/>
        </p:nvSpPr>
        <p:spPr>
          <a:xfrm>
            <a:off x="1028700" y="933450"/>
            <a:ext cx="16230600" cy="1811020"/>
          </a:xfrm>
          <a:prstGeom prst="rect">
            <a:avLst/>
          </a:prstGeom>
        </p:spPr>
        <p:txBody>
          <a:bodyPr lIns="0" tIns="0" rIns="0" bIns="0" rtlCol="0" anchor="t">
            <a:spAutoFit/>
          </a:bodyPr>
          <a:lstStyle/>
          <a:p>
            <a:pPr algn="l">
              <a:lnSpc>
                <a:spcPts val="7279"/>
              </a:lnSpc>
            </a:pPr>
            <a:r>
              <a:rPr lang="en-US" sz="5199">
                <a:solidFill>
                  <a:srgbClr val="000000"/>
                </a:solidFill>
                <a:latin typeface="Canva Sans"/>
                <a:ea typeface="Canva Sans"/>
                <a:cs typeface="Canva Sans"/>
                <a:sym typeface="Canva Sans"/>
              </a:rPr>
              <a:t>Section 4 - Q3 - Digital Engagement, Product Holdings &amp; Acquisition Channels</a:t>
            </a:r>
          </a:p>
        </p:txBody>
      </p:sp>
      <p:sp>
        <p:nvSpPr>
          <p:cNvPr id="5" name="TextBox 5"/>
          <p:cNvSpPr txBox="1"/>
          <p:nvPr/>
        </p:nvSpPr>
        <p:spPr>
          <a:xfrm>
            <a:off x="1028700" y="8601710"/>
            <a:ext cx="16230600" cy="656590"/>
          </a:xfrm>
          <a:prstGeom prst="rect">
            <a:avLst/>
          </a:prstGeom>
        </p:spPr>
        <p:txBody>
          <a:bodyPr lIns="0" tIns="0" rIns="0" bIns="0" rtlCol="0" anchor="t">
            <a:spAutoFit/>
          </a:bodyPr>
          <a:lstStyle/>
          <a:p>
            <a:pPr algn="just">
              <a:lnSpc>
                <a:spcPts val="2659"/>
              </a:lnSpc>
              <a:spcBef>
                <a:spcPct val="0"/>
              </a:spcBef>
            </a:pPr>
            <a:r>
              <a:rPr lang="en-US" sz="1899" b="1">
                <a:solidFill>
                  <a:srgbClr val="000000"/>
                </a:solidFill>
                <a:latin typeface="Canva Sans Bold"/>
                <a:ea typeface="Canva Sans Bold"/>
                <a:cs typeface="Canva Sans Bold"/>
                <a:sym typeface="Canva Sans Bold"/>
              </a:rPr>
              <a:t>Key Insight &amp; Recommendation: </a:t>
            </a:r>
            <a:r>
              <a:rPr lang="en-US" sz="1899">
                <a:solidFill>
                  <a:srgbClr val="000000"/>
                </a:solidFill>
                <a:latin typeface="Canva Sans"/>
                <a:ea typeface="Canva Sans"/>
                <a:cs typeface="Canva Sans"/>
                <a:sym typeface="Canva Sans"/>
              </a:rPr>
              <a:t>App users save only slightly more, mostly in Premium. 251 savers hold no deposit or insurance, with LKR 222M between them.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933450"/>
            <a:ext cx="17259300" cy="1811020"/>
          </a:xfrm>
          <a:prstGeom prst="rect">
            <a:avLst/>
          </a:prstGeom>
        </p:spPr>
        <p:txBody>
          <a:bodyPr lIns="0" tIns="0" rIns="0" bIns="0" rtlCol="0" anchor="t">
            <a:spAutoFit/>
          </a:bodyPr>
          <a:lstStyle/>
          <a:p>
            <a:pPr algn="l">
              <a:lnSpc>
                <a:spcPts val="7279"/>
              </a:lnSpc>
            </a:pPr>
            <a:r>
              <a:rPr lang="en-US" sz="5199">
                <a:solidFill>
                  <a:srgbClr val="000000"/>
                </a:solidFill>
                <a:latin typeface="Canva Sans"/>
                <a:ea typeface="Canva Sans"/>
                <a:cs typeface="Canva Sans"/>
                <a:sym typeface="Canva Sans"/>
              </a:rPr>
              <a:t>Section 4 - Q3 - Digital Engagement, Product Holdings &amp; Acquisition Channels</a:t>
            </a:r>
          </a:p>
        </p:txBody>
      </p:sp>
      <p:grpSp>
        <p:nvGrpSpPr>
          <p:cNvPr id="3" name="Group 3"/>
          <p:cNvGrpSpPr/>
          <p:nvPr/>
        </p:nvGrpSpPr>
        <p:grpSpPr>
          <a:xfrm>
            <a:off x="12931496" y="2048625"/>
            <a:ext cx="2771806" cy="2108620"/>
            <a:chOff x="0" y="0"/>
            <a:chExt cx="1179455" cy="897257"/>
          </a:xfrm>
        </p:grpSpPr>
        <p:sp>
          <p:nvSpPr>
            <p:cNvPr id="4" name="Freeform 4"/>
            <p:cNvSpPr/>
            <p:nvPr/>
          </p:nvSpPr>
          <p:spPr>
            <a:xfrm>
              <a:off x="0" y="0"/>
              <a:ext cx="1179455" cy="897257"/>
            </a:xfrm>
            <a:custGeom>
              <a:avLst/>
              <a:gdLst/>
              <a:ahLst/>
              <a:cxnLst/>
              <a:rect l="l" t="t" r="r" b="b"/>
              <a:pathLst>
                <a:path w="1179455" h="897257">
                  <a:moveTo>
                    <a:pt x="0" y="0"/>
                  </a:moveTo>
                  <a:lnTo>
                    <a:pt x="1179455" y="0"/>
                  </a:lnTo>
                  <a:lnTo>
                    <a:pt x="1179455" y="897257"/>
                  </a:lnTo>
                  <a:lnTo>
                    <a:pt x="0" y="897257"/>
                  </a:lnTo>
                  <a:close/>
                </a:path>
              </a:pathLst>
            </a:custGeom>
            <a:solidFill>
              <a:srgbClr val="006D78"/>
            </a:solidFill>
          </p:spPr>
        </p:sp>
        <p:sp>
          <p:nvSpPr>
            <p:cNvPr id="5" name="TextBox 5"/>
            <p:cNvSpPr txBox="1"/>
            <p:nvPr/>
          </p:nvSpPr>
          <p:spPr>
            <a:xfrm>
              <a:off x="0" y="-38100"/>
              <a:ext cx="1179455" cy="935357"/>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2931496" y="2420967"/>
            <a:ext cx="2771806" cy="556424"/>
          </a:xfrm>
          <a:prstGeom prst="rect">
            <a:avLst/>
          </a:prstGeom>
        </p:spPr>
        <p:txBody>
          <a:bodyPr lIns="0" tIns="0" rIns="0" bIns="0" rtlCol="0" anchor="t">
            <a:spAutoFit/>
          </a:bodyPr>
          <a:lstStyle/>
          <a:p>
            <a:pPr algn="ctr">
              <a:lnSpc>
                <a:spcPts val="4505"/>
              </a:lnSpc>
            </a:pPr>
            <a:r>
              <a:rPr lang="en-US" sz="3218" b="1">
                <a:solidFill>
                  <a:srgbClr val="FFFFFF"/>
                </a:solidFill>
                <a:latin typeface="Canva Sans Bold"/>
                <a:ea typeface="Canva Sans Bold"/>
                <a:cs typeface="Canva Sans Bold"/>
                <a:sym typeface="Canva Sans Bold"/>
              </a:rPr>
              <a:t>5.4%</a:t>
            </a:r>
          </a:p>
        </p:txBody>
      </p:sp>
      <p:sp>
        <p:nvSpPr>
          <p:cNvPr id="7" name="TextBox 7"/>
          <p:cNvSpPr txBox="1"/>
          <p:nvPr/>
        </p:nvSpPr>
        <p:spPr>
          <a:xfrm>
            <a:off x="13063008" y="2949179"/>
            <a:ext cx="2508782" cy="769049"/>
          </a:xfrm>
          <a:prstGeom prst="rect">
            <a:avLst/>
          </a:prstGeom>
        </p:spPr>
        <p:txBody>
          <a:bodyPr lIns="0" tIns="0" rIns="0" bIns="0" rtlCol="0" anchor="t">
            <a:spAutoFit/>
          </a:bodyPr>
          <a:lstStyle/>
          <a:p>
            <a:pPr algn="ctr">
              <a:lnSpc>
                <a:spcPts val="2079"/>
              </a:lnSpc>
            </a:pPr>
            <a:r>
              <a:rPr lang="en-US" sz="1485">
                <a:solidFill>
                  <a:srgbClr val="FFFFFF"/>
                </a:solidFill>
                <a:latin typeface="Canva Sans"/>
                <a:ea typeface="Canva Sans"/>
                <a:cs typeface="Canva Sans"/>
                <a:sym typeface="Canva Sans"/>
              </a:rPr>
              <a:t>default rate for Agent customers, the lowest</a:t>
            </a:r>
          </a:p>
          <a:p>
            <a:pPr algn="ctr">
              <a:lnSpc>
                <a:spcPts val="2079"/>
              </a:lnSpc>
            </a:pPr>
            <a:endParaRPr lang="en-US" sz="1485">
              <a:solidFill>
                <a:srgbClr val="FFFFFF"/>
              </a:solidFill>
              <a:latin typeface="Canva Sans"/>
              <a:ea typeface="Canva Sans"/>
              <a:cs typeface="Canva Sans"/>
              <a:sym typeface="Canva Sans"/>
            </a:endParaRPr>
          </a:p>
        </p:txBody>
      </p:sp>
      <p:grpSp>
        <p:nvGrpSpPr>
          <p:cNvPr id="8" name="Group 8"/>
          <p:cNvGrpSpPr/>
          <p:nvPr/>
        </p:nvGrpSpPr>
        <p:grpSpPr>
          <a:xfrm>
            <a:off x="12931496" y="4414310"/>
            <a:ext cx="2771806" cy="2108620"/>
            <a:chOff x="0" y="0"/>
            <a:chExt cx="1179455" cy="897257"/>
          </a:xfrm>
        </p:grpSpPr>
        <p:sp>
          <p:nvSpPr>
            <p:cNvPr id="9" name="Freeform 9"/>
            <p:cNvSpPr/>
            <p:nvPr/>
          </p:nvSpPr>
          <p:spPr>
            <a:xfrm>
              <a:off x="0" y="0"/>
              <a:ext cx="1179455" cy="897257"/>
            </a:xfrm>
            <a:custGeom>
              <a:avLst/>
              <a:gdLst/>
              <a:ahLst/>
              <a:cxnLst/>
              <a:rect l="l" t="t" r="r" b="b"/>
              <a:pathLst>
                <a:path w="1179455" h="897257">
                  <a:moveTo>
                    <a:pt x="0" y="0"/>
                  </a:moveTo>
                  <a:lnTo>
                    <a:pt x="1179455" y="0"/>
                  </a:lnTo>
                  <a:lnTo>
                    <a:pt x="1179455" y="897257"/>
                  </a:lnTo>
                  <a:lnTo>
                    <a:pt x="0" y="897257"/>
                  </a:lnTo>
                  <a:close/>
                </a:path>
              </a:pathLst>
            </a:custGeom>
            <a:solidFill>
              <a:srgbClr val="006D78"/>
            </a:solidFill>
          </p:spPr>
        </p:sp>
        <p:sp>
          <p:nvSpPr>
            <p:cNvPr id="10" name="TextBox 10"/>
            <p:cNvSpPr txBox="1"/>
            <p:nvPr/>
          </p:nvSpPr>
          <p:spPr>
            <a:xfrm>
              <a:off x="0" y="-38100"/>
              <a:ext cx="1179455" cy="935357"/>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12931496" y="4786652"/>
            <a:ext cx="2771806" cy="556424"/>
          </a:xfrm>
          <a:prstGeom prst="rect">
            <a:avLst/>
          </a:prstGeom>
        </p:spPr>
        <p:txBody>
          <a:bodyPr lIns="0" tIns="0" rIns="0" bIns="0" rtlCol="0" anchor="t">
            <a:spAutoFit/>
          </a:bodyPr>
          <a:lstStyle/>
          <a:p>
            <a:pPr algn="ctr">
              <a:lnSpc>
                <a:spcPts val="4505"/>
              </a:lnSpc>
            </a:pPr>
            <a:r>
              <a:rPr lang="en-US" sz="3218" b="1" smtClean="0">
                <a:solidFill>
                  <a:srgbClr val="FFFFFF"/>
                </a:solidFill>
                <a:latin typeface="Canva Sans Bold"/>
                <a:ea typeface="Canva Sans Bold"/>
                <a:cs typeface="Canva Sans Bold"/>
                <a:sym typeface="Canva Sans Bold"/>
              </a:rPr>
              <a:t>12.7%</a:t>
            </a:r>
            <a:endParaRPr lang="en-US" sz="3218" b="1">
              <a:solidFill>
                <a:srgbClr val="FFFFFF"/>
              </a:solidFill>
              <a:latin typeface="Canva Sans Bold"/>
              <a:ea typeface="Canva Sans Bold"/>
              <a:cs typeface="Canva Sans Bold"/>
              <a:sym typeface="Canva Sans Bold"/>
            </a:endParaRPr>
          </a:p>
        </p:txBody>
      </p:sp>
      <p:sp>
        <p:nvSpPr>
          <p:cNvPr id="12" name="TextBox 12"/>
          <p:cNvSpPr txBox="1"/>
          <p:nvPr/>
        </p:nvSpPr>
        <p:spPr>
          <a:xfrm>
            <a:off x="13063008" y="5314864"/>
            <a:ext cx="2508782" cy="769049"/>
          </a:xfrm>
          <a:prstGeom prst="rect">
            <a:avLst/>
          </a:prstGeom>
        </p:spPr>
        <p:txBody>
          <a:bodyPr lIns="0" tIns="0" rIns="0" bIns="0" rtlCol="0" anchor="t">
            <a:spAutoFit/>
          </a:bodyPr>
          <a:lstStyle/>
          <a:p>
            <a:pPr algn="ctr">
              <a:lnSpc>
                <a:spcPts val="2079"/>
              </a:lnSpc>
            </a:pPr>
            <a:r>
              <a:rPr lang="en-US" sz="1485">
                <a:solidFill>
                  <a:srgbClr val="FFFFFF"/>
                </a:solidFill>
                <a:latin typeface="Canva Sans"/>
                <a:ea typeface="Canva Sans"/>
                <a:cs typeface="Canva Sans"/>
                <a:sym typeface="Canva Sans"/>
              </a:rPr>
              <a:t>for Digital and Referral customers</a:t>
            </a:r>
          </a:p>
          <a:p>
            <a:pPr algn="ctr">
              <a:lnSpc>
                <a:spcPts val="2079"/>
              </a:lnSpc>
            </a:pPr>
            <a:endParaRPr lang="en-US" sz="1485">
              <a:solidFill>
                <a:srgbClr val="FFFFFF"/>
              </a:solidFill>
              <a:latin typeface="Canva Sans"/>
              <a:ea typeface="Canva Sans"/>
              <a:cs typeface="Canva Sans"/>
              <a:sym typeface="Canva Sans"/>
            </a:endParaRPr>
          </a:p>
        </p:txBody>
      </p:sp>
      <p:sp>
        <p:nvSpPr>
          <p:cNvPr id="13" name="TextBox 13"/>
          <p:cNvSpPr txBox="1"/>
          <p:nvPr/>
        </p:nvSpPr>
        <p:spPr>
          <a:xfrm>
            <a:off x="10949217" y="6712910"/>
            <a:ext cx="6310083" cy="1323340"/>
          </a:xfrm>
          <a:prstGeom prst="rect">
            <a:avLst/>
          </a:prstGeom>
        </p:spPr>
        <p:txBody>
          <a:bodyPr lIns="0" tIns="0" rIns="0" bIns="0" rtlCol="0" anchor="t">
            <a:spAutoFit/>
          </a:bodyPr>
          <a:lstStyle/>
          <a:p>
            <a:pPr algn="just">
              <a:lnSpc>
                <a:spcPts val="2659"/>
              </a:lnSpc>
              <a:spcBef>
                <a:spcPct val="0"/>
              </a:spcBef>
            </a:pPr>
            <a:r>
              <a:rPr lang="en-US" sz="1899" b="1">
                <a:solidFill>
                  <a:srgbClr val="000000"/>
                </a:solidFill>
                <a:latin typeface="Canva Sans Bold"/>
                <a:ea typeface="Canva Sans Bold"/>
                <a:cs typeface="Canva Sans Bold"/>
                <a:sym typeface="Canva Sans Bold"/>
              </a:rPr>
              <a:t>Key Insight &amp; Recommendation:</a:t>
            </a:r>
            <a:r>
              <a:rPr lang="en-US" sz="1899">
                <a:solidFill>
                  <a:srgbClr val="000000"/>
                </a:solidFill>
                <a:latin typeface="Canva Sans"/>
                <a:ea typeface="Canva Sans"/>
                <a:cs typeface="Canva Sans"/>
                <a:sym typeface="Canva Sans"/>
              </a:rPr>
              <a:t> Agents seem to perform better, FinSight can look into the factors that contribute to this performance and see if they can be applied to the other acquistion channels.</a:t>
            </a:r>
          </a:p>
        </p:txBody>
      </p:sp>
      <p:sp>
        <p:nvSpPr>
          <p:cNvPr id="14" name="Freeform 14"/>
          <p:cNvSpPr/>
          <p:nvPr/>
        </p:nvSpPr>
        <p:spPr>
          <a:xfrm>
            <a:off x="1028700" y="3102935"/>
            <a:ext cx="8871507" cy="5514720"/>
          </a:xfrm>
          <a:custGeom>
            <a:avLst/>
            <a:gdLst/>
            <a:ahLst/>
            <a:cxnLst/>
            <a:rect l="l" t="t" r="r" b="b"/>
            <a:pathLst>
              <a:path w="8871507" h="5514720">
                <a:moveTo>
                  <a:pt x="0" y="0"/>
                </a:moveTo>
                <a:lnTo>
                  <a:pt x="8871507" y="0"/>
                </a:lnTo>
                <a:lnTo>
                  <a:pt x="8871507" y="5514720"/>
                </a:lnTo>
                <a:lnTo>
                  <a:pt x="0" y="5514720"/>
                </a:lnTo>
                <a:lnTo>
                  <a:pt x="0" y="0"/>
                </a:lnTo>
                <a:close/>
              </a:path>
            </a:pathLst>
          </a:custGeom>
          <a:blipFill>
            <a:blip r:embed="rId2"/>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67790" y="1820545"/>
            <a:ext cx="3159971" cy="7437755"/>
            <a:chOff x="0" y="0"/>
            <a:chExt cx="1179455" cy="2776132"/>
          </a:xfrm>
        </p:grpSpPr>
        <p:sp>
          <p:nvSpPr>
            <p:cNvPr id="3" name="Freeform 3"/>
            <p:cNvSpPr/>
            <p:nvPr/>
          </p:nvSpPr>
          <p:spPr>
            <a:xfrm>
              <a:off x="0" y="0"/>
              <a:ext cx="1179455" cy="2776132"/>
            </a:xfrm>
            <a:custGeom>
              <a:avLst/>
              <a:gdLst/>
              <a:ahLst/>
              <a:cxnLst/>
              <a:rect l="l" t="t" r="r" b="b"/>
              <a:pathLst>
                <a:path w="1179455" h="2776132">
                  <a:moveTo>
                    <a:pt x="0" y="0"/>
                  </a:moveTo>
                  <a:lnTo>
                    <a:pt x="1179455" y="0"/>
                  </a:lnTo>
                  <a:lnTo>
                    <a:pt x="1179455" y="2776132"/>
                  </a:lnTo>
                  <a:lnTo>
                    <a:pt x="0" y="2776132"/>
                  </a:lnTo>
                  <a:close/>
                </a:path>
              </a:pathLst>
            </a:custGeom>
            <a:solidFill>
              <a:srgbClr val="006D78"/>
            </a:solidFill>
          </p:spPr>
        </p:sp>
        <p:sp>
          <p:nvSpPr>
            <p:cNvPr id="4" name="TextBox 4"/>
            <p:cNvSpPr txBox="1"/>
            <p:nvPr/>
          </p:nvSpPr>
          <p:spPr>
            <a:xfrm>
              <a:off x="0" y="-38100"/>
              <a:ext cx="1179455" cy="2814232"/>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767790" y="537527"/>
            <a:ext cx="16720329" cy="936154"/>
          </a:xfrm>
          <a:prstGeom prst="rect">
            <a:avLst/>
          </a:prstGeom>
        </p:spPr>
        <p:txBody>
          <a:bodyPr wrap="square" lIns="0" tIns="0" rIns="0" bIns="0" rtlCol="0" anchor="t">
            <a:spAutoFit/>
          </a:bodyPr>
          <a:lstStyle/>
          <a:p>
            <a:pPr algn="l">
              <a:lnSpc>
                <a:spcPts val="7279"/>
              </a:lnSpc>
            </a:pPr>
            <a:r>
              <a:rPr lang="en-US" sz="5199" dirty="0">
                <a:solidFill>
                  <a:srgbClr val="000000"/>
                </a:solidFill>
                <a:latin typeface="Canva Sans"/>
                <a:ea typeface="Canva Sans"/>
                <a:cs typeface="Canva Sans"/>
                <a:sym typeface="Canva Sans"/>
              </a:rPr>
              <a:t>Section 5 - Q4 - Define 5 KPIs</a:t>
            </a:r>
          </a:p>
        </p:txBody>
      </p:sp>
      <p:sp>
        <p:nvSpPr>
          <p:cNvPr id="6" name="TextBox 6"/>
          <p:cNvSpPr txBox="1"/>
          <p:nvPr/>
        </p:nvSpPr>
        <p:spPr>
          <a:xfrm>
            <a:off x="767790" y="2864530"/>
            <a:ext cx="3159971" cy="1268876"/>
          </a:xfrm>
          <a:prstGeom prst="rect">
            <a:avLst/>
          </a:prstGeom>
        </p:spPr>
        <p:txBody>
          <a:bodyPr lIns="0" tIns="0" rIns="0" bIns="0" rtlCol="0" anchor="t">
            <a:spAutoFit/>
          </a:bodyPr>
          <a:lstStyle/>
          <a:p>
            <a:pPr algn="ctr">
              <a:lnSpc>
                <a:spcPts val="5136"/>
              </a:lnSpc>
            </a:pPr>
            <a:r>
              <a:rPr lang="en-US" sz="3669" b="1">
                <a:solidFill>
                  <a:srgbClr val="FFFFFF"/>
                </a:solidFill>
                <a:latin typeface="Canva Sans Bold"/>
                <a:ea typeface="Canva Sans Bold"/>
                <a:cs typeface="Canva Sans Bold"/>
                <a:sym typeface="Canva Sans Bold"/>
              </a:rPr>
              <a:t>DEFAULT RATE</a:t>
            </a:r>
          </a:p>
        </p:txBody>
      </p:sp>
      <p:sp>
        <p:nvSpPr>
          <p:cNvPr id="7" name="TextBox 7"/>
          <p:cNvSpPr txBox="1"/>
          <p:nvPr/>
        </p:nvSpPr>
        <p:spPr>
          <a:xfrm>
            <a:off x="767790" y="6592259"/>
            <a:ext cx="3159971" cy="281288"/>
          </a:xfrm>
          <a:prstGeom prst="rect">
            <a:avLst/>
          </a:prstGeom>
        </p:spPr>
        <p:txBody>
          <a:bodyPr lIns="0" tIns="0" rIns="0" bIns="0" rtlCol="0" anchor="t">
            <a:spAutoFit/>
          </a:bodyPr>
          <a:lstStyle/>
          <a:p>
            <a:pPr algn="ctr">
              <a:lnSpc>
                <a:spcPts val="2370"/>
              </a:lnSpc>
            </a:pPr>
            <a:r>
              <a:rPr lang="en-US" sz="1693">
                <a:solidFill>
                  <a:srgbClr val="FFFFFF"/>
                </a:solidFill>
                <a:latin typeface="Canva Sans"/>
                <a:ea typeface="Canva Sans"/>
                <a:cs typeface="Canva Sans"/>
                <a:sym typeface="Canva Sans"/>
              </a:rPr>
              <a:t>Target: 8% or Lower</a:t>
            </a:r>
          </a:p>
        </p:txBody>
      </p:sp>
      <p:grpSp>
        <p:nvGrpSpPr>
          <p:cNvPr id="8" name="Group 8"/>
          <p:cNvGrpSpPr/>
          <p:nvPr/>
        </p:nvGrpSpPr>
        <p:grpSpPr>
          <a:xfrm>
            <a:off x="4165951" y="1820545"/>
            <a:ext cx="3159971" cy="7437755"/>
            <a:chOff x="0" y="0"/>
            <a:chExt cx="1179455" cy="2776132"/>
          </a:xfrm>
        </p:grpSpPr>
        <p:sp>
          <p:nvSpPr>
            <p:cNvPr id="9" name="Freeform 9"/>
            <p:cNvSpPr/>
            <p:nvPr/>
          </p:nvSpPr>
          <p:spPr>
            <a:xfrm>
              <a:off x="0" y="0"/>
              <a:ext cx="1179455" cy="2776132"/>
            </a:xfrm>
            <a:custGeom>
              <a:avLst/>
              <a:gdLst/>
              <a:ahLst/>
              <a:cxnLst/>
              <a:rect l="l" t="t" r="r" b="b"/>
              <a:pathLst>
                <a:path w="1179455" h="2776132">
                  <a:moveTo>
                    <a:pt x="0" y="0"/>
                  </a:moveTo>
                  <a:lnTo>
                    <a:pt x="1179455" y="0"/>
                  </a:lnTo>
                  <a:lnTo>
                    <a:pt x="1179455" y="2776132"/>
                  </a:lnTo>
                  <a:lnTo>
                    <a:pt x="0" y="2776132"/>
                  </a:lnTo>
                  <a:close/>
                </a:path>
              </a:pathLst>
            </a:custGeom>
            <a:solidFill>
              <a:srgbClr val="006D78"/>
            </a:solidFill>
          </p:spPr>
        </p:sp>
        <p:sp>
          <p:nvSpPr>
            <p:cNvPr id="10" name="TextBox 10"/>
            <p:cNvSpPr txBox="1"/>
            <p:nvPr/>
          </p:nvSpPr>
          <p:spPr>
            <a:xfrm>
              <a:off x="0" y="-38100"/>
              <a:ext cx="1179455" cy="2814232"/>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4165919" y="5999658"/>
            <a:ext cx="3159971" cy="621176"/>
          </a:xfrm>
          <a:prstGeom prst="rect">
            <a:avLst/>
          </a:prstGeom>
        </p:spPr>
        <p:txBody>
          <a:bodyPr lIns="0" tIns="0" rIns="0" bIns="0" rtlCol="0" anchor="t">
            <a:spAutoFit/>
          </a:bodyPr>
          <a:lstStyle/>
          <a:p>
            <a:pPr algn="ctr">
              <a:lnSpc>
                <a:spcPts val="5136"/>
              </a:lnSpc>
            </a:pPr>
            <a:r>
              <a:rPr lang="en-US" sz="3669" b="1">
                <a:solidFill>
                  <a:srgbClr val="FFFFFF"/>
                </a:solidFill>
                <a:latin typeface="Canva Sans Bold"/>
                <a:ea typeface="Canva Sans Bold"/>
                <a:cs typeface="Canva Sans Bold"/>
                <a:sym typeface="Canva Sans Bold"/>
              </a:rPr>
              <a:t>78.4%</a:t>
            </a:r>
          </a:p>
        </p:txBody>
      </p:sp>
      <p:sp>
        <p:nvSpPr>
          <p:cNvPr id="12" name="TextBox 12"/>
          <p:cNvSpPr txBox="1"/>
          <p:nvPr/>
        </p:nvSpPr>
        <p:spPr>
          <a:xfrm>
            <a:off x="767790" y="8397699"/>
            <a:ext cx="3160036" cy="577017"/>
          </a:xfrm>
          <a:prstGeom prst="rect">
            <a:avLst/>
          </a:prstGeom>
        </p:spPr>
        <p:txBody>
          <a:bodyPr lIns="0" tIns="0" rIns="0" bIns="0" rtlCol="0" anchor="t">
            <a:spAutoFit/>
          </a:bodyPr>
          <a:lstStyle/>
          <a:p>
            <a:pPr algn="ctr">
              <a:lnSpc>
                <a:spcPts val="2370"/>
              </a:lnSpc>
            </a:pPr>
            <a:r>
              <a:rPr lang="en-US" sz="1693">
                <a:solidFill>
                  <a:srgbClr val="FFFFFF"/>
                </a:solidFill>
                <a:latin typeface="Canva Sans"/>
                <a:ea typeface="Canva Sans"/>
                <a:cs typeface="Canva Sans"/>
                <a:sym typeface="Canva Sans"/>
              </a:rPr>
              <a:t>Informs: Tighten or relax lending criteria</a:t>
            </a:r>
          </a:p>
        </p:txBody>
      </p:sp>
      <p:grpSp>
        <p:nvGrpSpPr>
          <p:cNvPr id="13" name="Group 13"/>
          <p:cNvGrpSpPr/>
          <p:nvPr/>
        </p:nvGrpSpPr>
        <p:grpSpPr>
          <a:xfrm>
            <a:off x="10962143" y="1820545"/>
            <a:ext cx="3159971" cy="7437755"/>
            <a:chOff x="0" y="0"/>
            <a:chExt cx="1179455" cy="2776132"/>
          </a:xfrm>
        </p:grpSpPr>
        <p:sp>
          <p:nvSpPr>
            <p:cNvPr id="14" name="Freeform 14"/>
            <p:cNvSpPr/>
            <p:nvPr/>
          </p:nvSpPr>
          <p:spPr>
            <a:xfrm>
              <a:off x="0" y="0"/>
              <a:ext cx="1179455" cy="2776132"/>
            </a:xfrm>
            <a:custGeom>
              <a:avLst/>
              <a:gdLst/>
              <a:ahLst/>
              <a:cxnLst/>
              <a:rect l="l" t="t" r="r" b="b"/>
              <a:pathLst>
                <a:path w="1179455" h="2776132">
                  <a:moveTo>
                    <a:pt x="0" y="0"/>
                  </a:moveTo>
                  <a:lnTo>
                    <a:pt x="1179455" y="0"/>
                  </a:lnTo>
                  <a:lnTo>
                    <a:pt x="1179455" y="2776132"/>
                  </a:lnTo>
                  <a:lnTo>
                    <a:pt x="0" y="2776132"/>
                  </a:lnTo>
                  <a:close/>
                </a:path>
              </a:pathLst>
            </a:custGeom>
            <a:solidFill>
              <a:srgbClr val="006D78"/>
            </a:solidFill>
          </p:spPr>
        </p:sp>
        <p:sp>
          <p:nvSpPr>
            <p:cNvPr id="15" name="TextBox 15"/>
            <p:cNvSpPr txBox="1"/>
            <p:nvPr/>
          </p:nvSpPr>
          <p:spPr>
            <a:xfrm>
              <a:off x="0" y="-38100"/>
              <a:ext cx="1179455" cy="2814232"/>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6"/>
          <p:cNvSpPr txBox="1"/>
          <p:nvPr/>
        </p:nvSpPr>
        <p:spPr>
          <a:xfrm>
            <a:off x="11012680" y="5999658"/>
            <a:ext cx="3159971" cy="621176"/>
          </a:xfrm>
          <a:prstGeom prst="rect">
            <a:avLst/>
          </a:prstGeom>
        </p:spPr>
        <p:txBody>
          <a:bodyPr lIns="0" tIns="0" rIns="0" bIns="0" rtlCol="0" anchor="t">
            <a:spAutoFit/>
          </a:bodyPr>
          <a:lstStyle/>
          <a:p>
            <a:pPr algn="ctr">
              <a:lnSpc>
                <a:spcPts val="5136"/>
              </a:lnSpc>
            </a:pPr>
            <a:r>
              <a:rPr lang="en-US" sz="3669" b="1">
                <a:solidFill>
                  <a:srgbClr val="FFFFFF"/>
                </a:solidFill>
                <a:latin typeface="Canva Sans Bold"/>
                <a:ea typeface="Canva Sans Bold"/>
                <a:cs typeface="Canva Sans Bold"/>
                <a:sym typeface="Canva Sans Bold"/>
              </a:rPr>
              <a:t>66.4%</a:t>
            </a:r>
          </a:p>
        </p:txBody>
      </p:sp>
      <p:grpSp>
        <p:nvGrpSpPr>
          <p:cNvPr id="17" name="Group 17"/>
          <p:cNvGrpSpPr/>
          <p:nvPr/>
        </p:nvGrpSpPr>
        <p:grpSpPr>
          <a:xfrm>
            <a:off x="7564047" y="1820545"/>
            <a:ext cx="3159971" cy="7437755"/>
            <a:chOff x="0" y="0"/>
            <a:chExt cx="1179455" cy="2776132"/>
          </a:xfrm>
        </p:grpSpPr>
        <p:sp>
          <p:nvSpPr>
            <p:cNvPr id="18" name="Freeform 18"/>
            <p:cNvSpPr/>
            <p:nvPr/>
          </p:nvSpPr>
          <p:spPr>
            <a:xfrm>
              <a:off x="0" y="0"/>
              <a:ext cx="1179455" cy="2776132"/>
            </a:xfrm>
            <a:custGeom>
              <a:avLst/>
              <a:gdLst/>
              <a:ahLst/>
              <a:cxnLst/>
              <a:rect l="l" t="t" r="r" b="b"/>
              <a:pathLst>
                <a:path w="1179455" h="2776132">
                  <a:moveTo>
                    <a:pt x="0" y="0"/>
                  </a:moveTo>
                  <a:lnTo>
                    <a:pt x="1179455" y="0"/>
                  </a:lnTo>
                  <a:lnTo>
                    <a:pt x="1179455" y="2776132"/>
                  </a:lnTo>
                  <a:lnTo>
                    <a:pt x="0" y="2776132"/>
                  </a:lnTo>
                  <a:close/>
                </a:path>
              </a:pathLst>
            </a:custGeom>
            <a:solidFill>
              <a:srgbClr val="006D78"/>
            </a:solidFill>
          </p:spPr>
        </p:sp>
        <p:sp>
          <p:nvSpPr>
            <p:cNvPr id="19" name="TextBox 19"/>
            <p:cNvSpPr txBox="1"/>
            <p:nvPr/>
          </p:nvSpPr>
          <p:spPr>
            <a:xfrm>
              <a:off x="0" y="-38100"/>
              <a:ext cx="1179455" cy="2814232"/>
            </a:xfrm>
            <a:prstGeom prst="rect">
              <a:avLst/>
            </a:prstGeom>
          </p:spPr>
          <p:txBody>
            <a:bodyPr lIns="50800" tIns="50800" rIns="50800" bIns="50800" rtlCol="0" anchor="ctr"/>
            <a:lstStyle/>
            <a:p>
              <a:pPr algn="ctr">
                <a:lnSpc>
                  <a:spcPts val="2659"/>
                </a:lnSpc>
                <a:spcBef>
                  <a:spcPct val="0"/>
                </a:spcBef>
              </a:pPr>
              <a:endParaRPr/>
            </a:p>
          </p:txBody>
        </p:sp>
      </p:grpSp>
      <p:sp>
        <p:nvSpPr>
          <p:cNvPr id="20" name="TextBox 20"/>
          <p:cNvSpPr txBox="1"/>
          <p:nvPr/>
        </p:nvSpPr>
        <p:spPr>
          <a:xfrm>
            <a:off x="7564047" y="5999658"/>
            <a:ext cx="3159971" cy="621176"/>
          </a:xfrm>
          <a:prstGeom prst="rect">
            <a:avLst/>
          </a:prstGeom>
        </p:spPr>
        <p:txBody>
          <a:bodyPr lIns="0" tIns="0" rIns="0" bIns="0" rtlCol="0" anchor="t">
            <a:spAutoFit/>
          </a:bodyPr>
          <a:lstStyle/>
          <a:p>
            <a:pPr algn="ctr">
              <a:lnSpc>
                <a:spcPts val="5136"/>
              </a:lnSpc>
            </a:pPr>
            <a:r>
              <a:rPr lang="en-US" sz="3669" b="1">
                <a:solidFill>
                  <a:srgbClr val="FFFFFF"/>
                </a:solidFill>
                <a:latin typeface="Canva Sans Bold"/>
                <a:ea typeface="Canva Sans Bold"/>
                <a:cs typeface="Canva Sans Bold"/>
                <a:sym typeface="Canva Sans Bold"/>
              </a:rPr>
              <a:t>70.2%</a:t>
            </a:r>
          </a:p>
        </p:txBody>
      </p:sp>
      <p:grpSp>
        <p:nvGrpSpPr>
          <p:cNvPr id="21" name="Group 21"/>
          <p:cNvGrpSpPr/>
          <p:nvPr/>
        </p:nvGrpSpPr>
        <p:grpSpPr>
          <a:xfrm>
            <a:off x="14360239" y="1820545"/>
            <a:ext cx="3159971" cy="7437755"/>
            <a:chOff x="0" y="0"/>
            <a:chExt cx="1179455" cy="2776132"/>
          </a:xfrm>
        </p:grpSpPr>
        <p:sp>
          <p:nvSpPr>
            <p:cNvPr id="22" name="Freeform 22"/>
            <p:cNvSpPr/>
            <p:nvPr/>
          </p:nvSpPr>
          <p:spPr>
            <a:xfrm>
              <a:off x="0" y="0"/>
              <a:ext cx="1179455" cy="2776132"/>
            </a:xfrm>
            <a:custGeom>
              <a:avLst/>
              <a:gdLst/>
              <a:ahLst/>
              <a:cxnLst/>
              <a:rect l="l" t="t" r="r" b="b"/>
              <a:pathLst>
                <a:path w="1179455" h="2776132">
                  <a:moveTo>
                    <a:pt x="0" y="0"/>
                  </a:moveTo>
                  <a:lnTo>
                    <a:pt x="1179455" y="0"/>
                  </a:lnTo>
                  <a:lnTo>
                    <a:pt x="1179455" y="2776132"/>
                  </a:lnTo>
                  <a:lnTo>
                    <a:pt x="0" y="2776132"/>
                  </a:lnTo>
                  <a:close/>
                </a:path>
              </a:pathLst>
            </a:custGeom>
            <a:solidFill>
              <a:srgbClr val="006D78"/>
            </a:solidFill>
          </p:spPr>
        </p:sp>
        <p:sp>
          <p:nvSpPr>
            <p:cNvPr id="23" name="TextBox 23"/>
            <p:cNvSpPr txBox="1"/>
            <p:nvPr/>
          </p:nvSpPr>
          <p:spPr>
            <a:xfrm>
              <a:off x="0" y="-38100"/>
              <a:ext cx="1179455" cy="2814232"/>
            </a:xfrm>
            <a:prstGeom prst="rect">
              <a:avLst/>
            </a:prstGeom>
          </p:spPr>
          <p:txBody>
            <a:bodyPr lIns="50800" tIns="50800" rIns="50800" bIns="50800" rtlCol="0" anchor="ctr"/>
            <a:lstStyle/>
            <a:p>
              <a:pPr algn="ctr">
                <a:lnSpc>
                  <a:spcPts val="2659"/>
                </a:lnSpc>
                <a:spcBef>
                  <a:spcPct val="0"/>
                </a:spcBef>
              </a:pPr>
              <a:endParaRPr/>
            </a:p>
          </p:txBody>
        </p:sp>
      </p:grpSp>
      <p:sp>
        <p:nvSpPr>
          <p:cNvPr id="24" name="TextBox 24"/>
          <p:cNvSpPr txBox="1"/>
          <p:nvPr/>
        </p:nvSpPr>
        <p:spPr>
          <a:xfrm>
            <a:off x="14360239" y="5999658"/>
            <a:ext cx="3159971" cy="621176"/>
          </a:xfrm>
          <a:prstGeom prst="rect">
            <a:avLst/>
          </a:prstGeom>
        </p:spPr>
        <p:txBody>
          <a:bodyPr lIns="0" tIns="0" rIns="0" bIns="0" rtlCol="0" anchor="t">
            <a:spAutoFit/>
          </a:bodyPr>
          <a:lstStyle/>
          <a:p>
            <a:pPr algn="ctr">
              <a:lnSpc>
                <a:spcPts val="5136"/>
              </a:lnSpc>
            </a:pPr>
            <a:r>
              <a:rPr lang="en-US" sz="3669" b="1">
                <a:solidFill>
                  <a:srgbClr val="FFFFFF"/>
                </a:solidFill>
                <a:latin typeface="Canva Sans Bold"/>
                <a:ea typeface="Canva Sans Bold"/>
                <a:cs typeface="Canva Sans Bold"/>
                <a:sym typeface="Canva Sans Bold"/>
              </a:rPr>
              <a:t>51.3%</a:t>
            </a:r>
          </a:p>
        </p:txBody>
      </p:sp>
      <p:sp>
        <p:nvSpPr>
          <p:cNvPr id="25" name="TextBox 25"/>
          <p:cNvSpPr txBox="1"/>
          <p:nvPr/>
        </p:nvSpPr>
        <p:spPr>
          <a:xfrm>
            <a:off x="767790" y="5999658"/>
            <a:ext cx="3159971" cy="621176"/>
          </a:xfrm>
          <a:prstGeom prst="rect">
            <a:avLst/>
          </a:prstGeom>
        </p:spPr>
        <p:txBody>
          <a:bodyPr lIns="0" tIns="0" rIns="0" bIns="0" rtlCol="0" anchor="t">
            <a:spAutoFit/>
          </a:bodyPr>
          <a:lstStyle/>
          <a:p>
            <a:pPr algn="ctr">
              <a:lnSpc>
                <a:spcPts val="5136"/>
              </a:lnSpc>
            </a:pPr>
            <a:r>
              <a:rPr lang="en-US" sz="3669" b="1">
                <a:solidFill>
                  <a:srgbClr val="FFFFFF"/>
                </a:solidFill>
                <a:latin typeface="Canva Sans Bold"/>
                <a:ea typeface="Canva Sans Bold"/>
                <a:cs typeface="Canva Sans Bold"/>
                <a:sym typeface="Canva Sans Bold"/>
              </a:rPr>
              <a:t>10.5%</a:t>
            </a:r>
          </a:p>
        </p:txBody>
      </p:sp>
      <p:sp>
        <p:nvSpPr>
          <p:cNvPr id="26" name="TextBox 26"/>
          <p:cNvSpPr txBox="1"/>
          <p:nvPr/>
        </p:nvSpPr>
        <p:spPr>
          <a:xfrm>
            <a:off x="4165951" y="2864530"/>
            <a:ext cx="3159971" cy="2564276"/>
          </a:xfrm>
          <a:prstGeom prst="rect">
            <a:avLst/>
          </a:prstGeom>
        </p:spPr>
        <p:txBody>
          <a:bodyPr lIns="0" tIns="0" rIns="0" bIns="0" rtlCol="0" anchor="t">
            <a:spAutoFit/>
          </a:bodyPr>
          <a:lstStyle/>
          <a:p>
            <a:pPr algn="ctr">
              <a:lnSpc>
                <a:spcPts val="5136"/>
              </a:lnSpc>
            </a:pPr>
            <a:r>
              <a:rPr lang="en-US" sz="3669" b="1">
                <a:solidFill>
                  <a:srgbClr val="FFFFFF"/>
                </a:solidFill>
                <a:latin typeface="Canva Sans Bold"/>
                <a:ea typeface="Canva Sans Bold"/>
                <a:cs typeface="Canva Sans Bold"/>
                <a:sym typeface="Canva Sans Bold"/>
              </a:rPr>
              <a:t>LOANS BACKED BY TOO LITTLE SAVINGS</a:t>
            </a:r>
          </a:p>
        </p:txBody>
      </p:sp>
      <p:sp>
        <p:nvSpPr>
          <p:cNvPr id="27" name="TextBox 27"/>
          <p:cNvSpPr txBox="1"/>
          <p:nvPr/>
        </p:nvSpPr>
        <p:spPr>
          <a:xfrm>
            <a:off x="7606861" y="2864530"/>
            <a:ext cx="3074278" cy="1268876"/>
          </a:xfrm>
          <a:prstGeom prst="rect">
            <a:avLst/>
          </a:prstGeom>
        </p:spPr>
        <p:txBody>
          <a:bodyPr lIns="0" tIns="0" rIns="0" bIns="0" rtlCol="0" anchor="t">
            <a:spAutoFit/>
          </a:bodyPr>
          <a:lstStyle/>
          <a:p>
            <a:pPr algn="ctr">
              <a:lnSpc>
                <a:spcPts val="5136"/>
              </a:lnSpc>
            </a:pPr>
            <a:r>
              <a:rPr lang="en-US" sz="3669" b="1">
                <a:solidFill>
                  <a:srgbClr val="FFFFFF"/>
                </a:solidFill>
                <a:latin typeface="Canva Sans Bold"/>
                <a:ea typeface="Canva Sans Bold"/>
                <a:cs typeface="Canva Sans Bold"/>
                <a:sym typeface="Canva Sans Bold"/>
              </a:rPr>
              <a:t>KYC VERIFIED</a:t>
            </a:r>
          </a:p>
        </p:txBody>
      </p:sp>
      <p:sp>
        <p:nvSpPr>
          <p:cNvPr id="28" name="TextBox 28"/>
          <p:cNvSpPr txBox="1"/>
          <p:nvPr/>
        </p:nvSpPr>
        <p:spPr>
          <a:xfrm>
            <a:off x="10962143" y="2798463"/>
            <a:ext cx="3159971" cy="621176"/>
          </a:xfrm>
          <a:prstGeom prst="rect">
            <a:avLst/>
          </a:prstGeom>
        </p:spPr>
        <p:txBody>
          <a:bodyPr lIns="0" tIns="0" rIns="0" bIns="0" rtlCol="0" anchor="t">
            <a:spAutoFit/>
          </a:bodyPr>
          <a:lstStyle/>
          <a:p>
            <a:pPr algn="ctr">
              <a:lnSpc>
                <a:spcPts val="5136"/>
              </a:lnSpc>
            </a:pPr>
            <a:r>
              <a:rPr lang="en-US" sz="3669" b="1">
                <a:solidFill>
                  <a:srgbClr val="FFFFFF"/>
                </a:solidFill>
                <a:latin typeface="Canva Sans Bold"/>
                <a:ea typeface="Canva Sans Bold"/>
                <a:cs typeface="Canva Sans Bold"/>
                <a:sym typeface="Canva Sans Bold"/>
              </a:rPr>
              <a:t>APP USERS</a:t>
            </a:r>
          </a:p>
        </p:txBody>
      </p:sp>
      <p:sp>
        <p:nvSpPr>
          <p:cNvPr id="29" name="TextBox 29"/>
          <p:cNvSpPr txBox="1"/>
          <p:nvPr/>
        </p:nvSpPr>
        <p:spPr>
          <a:xfrm>
            <a:off x="14398339" y="2798463"/>
            <a:ext cx="3089780" cy="2564276"/>
          </a:xfrm>
          <a:prstGeom prst="rect">
            <a:avLst/>
          </a:prstGeom>
        </p:spPr>
        <p:txBody>
          <a:bodyPr lIns="0" tIns="0" rIns="0" bIns="0" rtlCol="0" anchor="t">
            <a:spAutoFit/>
          </a:bodyPr>
          <a:lstStyle/>
          <a:p>
            <a:pPr algn="ctr">
              <a:lnSpc>
                <a:spcPts val="5136"/>
              </a:lnSpc>
            </a:pPr>
            <a:r>
              <a:rPr lang="en-US" sz="3669" b="1">
                <a:solidFill>
                  <a:srgbClr val="FFFFFF"/>
                </a:solidFill>
                <a:latin typeface="Canva Sans Bold"/>
                <a:ea typeface="Canva Sans Bold"/>
                <a:cs typeface="Canva Sans Bold"/>
                <a:sym typeface="Canva Sans Bold"/>
              </a:rPr>
              <a:t>SAVERS WITH NO OTHER PRODUCT</a:t>
            </a:r>
          </a:p>
        </p:txBody>
      </p:sp>
      <p:sp>
        <p:nvSpPr>
          <p:cNvPr id="30" name="TextBox 30"/>
          <p:cNvSpPr txBox="1"/>
          <p:nvPr/>
        </p:nvSpPr>
        <p:spPr>
          <a:xfrm>
            <a:off x="767790" y="7221514"/>
            <a:ext cx="3160036" cy="576110"/>
          </a:xfrm>
          <a:prstGeom prst="rect">
            <a:avLst/>
          </a:prstGeom>
        </p:spPr>
        <p:txBody>
          <a:bodyPr lIns="0" tIns="0" rIns="0" bIns="0" rtlCol="0" anchor="t">
            <a:spAutoFit/>
          </a:bodyPr>
          <a:lstStyle/>
          <a:p>
            <a:pPr algn="ctr">
              <a:lnSpc>
                <a:spcPts val="2370"/>
              </a:lnSpc>
            </a:pPr>
            <a:r>
              <a:rPr lang="en-US" sz="1693" i="1">
                <a:solidFill>
                  <a:srgbClr val="FFFFFF"/>
                </a:solidFill>
                <a:latin typeface="Canva Sans Italics"/>
                <a:ea typeface="Canva Sans Italics"/>
                <a:cs typeface="Canva Sans Italics"/>
                <a:sym typeface="Canva Sans Italics"/>
              </a:rPr>
              <a:t>Equation: Defaulted loans / all loans</a:t>
            </a:r>
          </a:p>
        </p:txBody>
      </p:sp>
      <p:sp>
        <p:nvSpPr>
          <p:cNvPr id="31" name="TextBox 31"/>
          <p:cNvSpPr txBox="1"/>
          <p:nvPr/>
        </p:nvSpPr>
        <p:spPr>
          <a:xfrm>
            <a:off x="4165919" y="6592259"/>
            <a:ext cx="3159971" cy="281288"/>
          </a:xfrm>
          <a:prstGeom prst="rect">
            <a:avLst/>
          </a:prstGeom>
        </p:spPr>
        <p:txBody>
          <a:bodyPr lIns="0" tIns="0" rIns="0" bIns="0" rtlCol="0" anchor="t">
            <a:spAutoFit/>
          </a:bodyPr>
          <a:lstStyle/>
          <a:p>
            <a:pPr algn="ctr">
              <a:lnSpc>
                <a:spcPts val="2370"/>
              </a:lnSpc>
            </a:pPr>
            <a:r>
              <a:rPr lang="en-US" sz="1693">
                <a:solidFill>
                  <a:srgbClr val="FFFFFF"/>
                </a:solidFill>
                <a:latin typeface="Canva Sans"/>
                <a:ea typeface="Canva Sans"/>
                <a:cs typeface="Canva Sans"/>
                <a:sym typeface="Canva Sans"/>
              </a:rPr>
              <a:t>Target: 60% or Lower</a:t>
            </a:r>
          </a:p>
        </p:txBody>
      </p:sp>
      <p:sp>
        <p:nvSpPr>
          <p:cNvPr id="32" name="TextBox 32"/>
          <p:cNvSpPr txBox="1"/>
          <p:nvPr/>
        </p:nvSpPr>
        <p:spPr>
          <a:xfrm>
            <a:off x="7564047" y="6592259"/>
            <a:ext cx="3159971" cy="281288"/>
          </a:xfrm>
          <a:prstGeom prst="rect">
            <a:avLst/>
          </a:prstGeom>
        </p:spPr>
        <p:txBody>
          <a:bodyPr lIns="0" tIns="0" rIns="0" bIns="0" rtlCol="0" anchor="t">
            <a:spAutoFit/>
          </a:bodyPr>
          <a:lstStyle/>
          <a:p>
            <a:pPr algn="ctr">
              <a:lnSpc>
                <a:spcPts val="2370"/>
              </a:lnSpc>
            </a:pPr>
            <a:r>
              <a:rPr lang="en-US" sz="1693">
                <a:solidFill>
                  <a:srgbClr val="FFFFFF"/>
                </a:solidFill>
                <a:latin typeface="Canva Sans"/>
                <a:ea typeface="Canva Sans"/>
                <a:cs typeface="Canva Sans"/>
                <a:sym typeface="Canva Sans"/>
              </a:rPr>
              <a:t>Target: 85% or Higher</a:t>
            </a:r>
          </a:p>
        </p:txBody>
      </p:sp>
      <p:sp>
        <p:nvSpPr>
          <p:cNvPr id="33" name="TextBox 33"/>
          <p:cNvSpPr txBox="1"/>
          <p:nvPr/>
        </p:nvSpPr>
        <p:spPr>
          <a:xfrm>
            <a:off x="11012680" y="6592259"/>
            <a:ext cx="3159971" cy="281288"/>
          </a:xfrm>
          <a:prstGeom prst="rect">
            <a:avLst/>
          </a:prstGeom>
        </p:spPr>
        <p:txBody>
          <a:bodyPr lIns="0" tIns="0" rIns="0" bIns="0" rtlCol="0" anchor="t">
            <a:spAutoFit/>
          </a:bodyPr>
          <a:lstStyle/>
          <a:p>
            <a:pPr algn="ctr">
              <a:lnSpc>
                <a:spcPts val="2370"/>
              </a:lnSpc>
            </a:pPr>
            <a:r>
              <a:rPr lang="en-US" sz="1693">
                <a:solidFill>
                  <a:srgbClr val="FFFFFF"/>
                </a:solidFill>
                <a:latin typeface="Canva Sans"/>
                <a:ea typeface="Canva Sans"/>
                <a:cs typeface="Canva Sans"/>
                <a:sym typeface="Canva Sans"/>
              </a:rPr>
              <a:t>Target: 75% or Higher</a:t>
            </a:r>
          </a:p>
        </p:txBody>
      </p:sp>
      <p:sp>
        <p:nvSpPr>
          <p:cNvPr id="34" name="TextBox 34"/>
          <p:cNvSpPr txBox="1"/>
          <p:nvPr/>
        </p:nvSpPr>
        <p:spPr>
          <a:xfrm>
            <a:off x="14360239" y="6592259"/>
            <a:ext cx="3159971" cy="281288"/>
          </a:xfrm>
          <a:prstGeom prst="rect">
            <a:avLst/>
          </a:prstGeom>
        </p:spPr>
        <p:txBody>
          <a:bodyPr lIns="0" tIns="0" rIns="0" bIns="0" rtlCol="0" anchor="t">
            <a:spAutoFit/>
          </a:bodyPr>
          <a:lstStyle/>
          <a:p>
            <a:pPr algn="ctr">
              <a:lnSpc>
                <a:spcPts val="2370"/>
              </a:lnSpc>
            </a:pPr>
            <a:r>
              <a:rPr lang="en-US" sz="1693">
                <a:solidFill>
                  <a:srgbClr val="FFFFFF"/>
                </a:solidFill>
                <a:latin typeface="Canva Sans"/>
                <a:ea typeface="Canva Sans"/>
                <a:cs typeface="Canva Sans"/>
                <a:sym typeface="Canva Sans"/>
              </a:rPr>
              <a:t>Target: 40% or Lower</a:t>
            </a:r>
          </a:p>
        </p:txBody>
      </p:sp>
      <p:sp>
        <p:nvSpPr>
          <p:cNvPr id="35" name="TextBox 35"/>
          <p:cNvSpPr txBox="1"/>
          <p:nvPr/>
        </p:nvSpPr>
        <p:spPr>
          <a:xfrm>
            <a:off x="4171988" y="7186860"/>
            <a:ext cx="3160036" cy="576110"/>
          </a:xfrm>
          <a:prstGeom prst="rect">
            <a:avLst/>
          </a:prstGeom>
        </p:spPr>
        <p:txBody>
          <a:bodyPr lIns="0" tIns="0" rIns="0" bIns="0" rtlCol="0" anchor="t">
            <a:spAutoFit/>
          </a:bodyPr>
          <a:lstStyle/>
          <a:p>
            <a:pPr algn="ctr">
              <a:lnSpc>
                <a:spcPts val="2370"/>
              </a:lnSpc>
            </a:pPr>
            <a:r>
              <a:rPr lang="en-US" sz="1693" i="1">
                <a:solidFill>
                  <a:srgbClr val="FFFFFF"/>
                </a:solidFill>
                <a:latin typeface="Canva Sans Italics"/>
                <a:ea typeface="Canva Sans Italics"/>
                <a:cs typeface="Canva Sans Italics"/>
                <a:sym typeface="Canva Sans Italics"/>
              </a:rPr>
              <a:t>Equation: Loan balance where DSR &gt; 1 / total balance</a:t>
            </a:r>
          </a:p>
        </p:txBody>
      </p:sp>
      <p:sp>
        <p:nvSpPr>
          <p:cNvPr id="36" name="TextBox 36"/>
          <p:cNvSpPr txBox="1"/>
          <p:nvPr/>
        </p:nvSpPr>
        <p:spPr>
          <a:xfrm>
            <a:off x="7579674" y="7186860"/>
            <a:ext cx="3160036" cy="576110"/>
          </a:xfrm>
          <a:prstGeom prst="rect">
            <a:avLst/>
          </a:prstGeom>
        </p:spPr>
        <p:txBody>
          <a:bodyPr lIns="0" tIns="0" rIns="0" bIns="0" rtlCol="0" anchor="t">
            <a:spAutoFit/>
          </a:bodyPr>
          <a:lstStyle/>
          <a:p>
            <a:pPr algn="ctr">
              <a:lnSpc>
                <a:spcPts val="2370"/>
              </a:lnSpc>
            </a:pPr>
            <a:r>
              <a:rPr lang="en-US" sz="1693" i="1">
                <a:solidFill>
                  <a:srgbClr val="FFFFFF"/>
                </a:solidFill>
                <a:latin typeface="Canva Sans Italics"/>
                <a:ea typeface="Canva Sans Italics"/>
                <a:cs typeface="Canva Sans Italics"/>
                <a:sym typeface="Canva Sans Italics"/>
              </a:rPr>
              <a:t>Equation: KYC Verified / all customers</a:t>
            </a:r>
          </a:p>
        </p:txBody>
      </p:sp>
      <p:sp>
        <p:nvSpPr>
          <p:cNvPr id="37" name="TextBox 37"/>
          <p:cNvSpPr txBox="1"/>
          <p:nvPr/>
        </p:nvSpPr>
        <p:spPr>
          <a:xfrm>
            <a:off x="10977835" y="7186860"/>
            <a:ext cx="3160036" cy="871385"/>
          </a:xfrm>
          <a:prstGeom prst="rect">
            <a:avLst/>
          </a:prstGeom>
        </p:spPr>
        <p:txBody>
          <a:bodyPr lIns="0" tIns="0" rIns="0" bIns="0" rtlCol="0" anchor="t">
            <a:spAutoFit/>
          </a:bodyPr>
          <a:lstStyle/>
          <a:p>
            <a:pPr algn="ctr">
              <a:lnSpc>
                <a:spcPts val="2370"/>
              </a:lnSpc>
            </a:pPr>
            <a:r>
              <a:rPr lang="en-US" sz="1693" i="1">
                <a:solidFill>
                  <a:srgbClr val="FFFFFF"/>
                </a:solidFill>
                <a:latin typeface="Canva Sans Italics"/>
                <a:ea typeface="Canva Sans Italics"/>
                <a:cs typeface="Canva Sans Italics"/>
                <a:sym typeface="Canva Sans Italics"/>
              </a:rPr>
              <a:t>Equation: Mobile app users / all customers</a:t>
            </a:r>
          </a:p>
          <a:p>
            <a:pPr algn="ctr">
              <a:lnSpc>
                <a:spcPts val="2370"/>
              </a:lnSpc>
            </a:pPr>
            <a:endParaRPr lang="en-US" sz="1693" i="1">
              <a:solidFill>
                <a:srgbClr val="FFFFFF"/>
              </a:solidFill>
              <a:latin typeface="Canva Sans Italics"/>
              <a:ea typeface="Canva Sans Italics"/>
              <a:cs typeface="Canva Sans Italics"/>
              <a:sym typeface="Canva Sans Italics"/>
            </a:endParaRPr>
          </a:p>
        </p:txBody>
      </p:sp>
      <p:sp>
        <p:nvSpPr>
          <p:cNvPr id="38" name="TextBox 38"/>
          <p:cNvSpPr txBox="1"/>
          <p:nvPr/>
        </p:nvSpPr>
        <p:spPr>
          <a:xfrm>
            <a:off x="14356946" y="7039222"/>
            <a:ext cx="3160036" cy="871385"/>
          </a:xfrm>
          <a:prstGeom prst="rect">
            <a:avLst/>
          </a:prstGeom>
        </p:spPr>
        <p:txBody>
          <a:bodyPr lIns="0" tIns="0" rIns="0" bIns="0" rtlCol="0" anchor="t">
            <a:spAutoFit/>
          </a:bodyPr>
          <a:lstStyle/>
          <a:p>
            <a:pPr algn="ctr">
              <a:lnSpc>
                <a:spcPts val="2370"/>
              </a:lnSpc>
            </a:pPr>
            <a:r>
              <a:rPr lang="en-US" sz="1693" i="1">
                <a:solidFill>
                  <a:srgbClr val="FFFFFF"/>
                </a:solidFill>
                <a:latin typeface="Canva Sans Italics"/>
                <a:ea typeface="Canva Sans Italics"/>
                <a:cs typeface="Canva Sans Italics"/>
                <a:sym typeface="Canva Sans Italics"/>
              </a:rPr>
              <a:t>Equation: Savers with no FD and no insurance / all savers</a:t>
            </a:r>
          </a:p>
          <a:p>
            <a:pPr algn="ctr">
              <a:lnSpc>
                <a:spcPts val="2370"/>
              </a:lnSpc>
            </a:pPr>
            <a:endParaRPr lang="en-US" sz="1693" i="1">
              <a:solidFill>
                <a:srgbClr val="FFFFFF"/>
              </a:solidFill>
              <a:latin typeface="Canva Sans Italics"/>
              <a:ea typeface="Canva Sans Italics"/>
              <a:cs typeface="Canva Sans Italics"/>
              <a:sym typeface="Canva Sans Italics"/>
            </a:endParaRPr>
          </a:p>
        </p:txBody>
      </p:sp>
      <p:sp>
        <p:nvSpPr>
          <p:cNvPr id="39" name="TextBox 39"/>
          <p:cNvSpPr txBox="1"/>
          <p:nvPr/>
        </p:nvSpPr>
        <p:spPr>
          <a:xfrm>
            <a:off x="4171988" y="8397699"/>
            <a:ext cx="3160036" cy="577017"/>
          </a:xfrm>
          <a:prstGeom prst="rect">
            <a:avLst/>
          </a:prstGeom>
        </p:spPr>
        <p:txBody>
          <a:bodyPr lIns="0" tIns="0" rIns="0" bIns="0" rtlCol="0" anchor="t">
            <a:spAutoFit/>
          </a:bodyPr>
          <a:lstStyle/>
          <a:p>
            <a:pPr algn="ctr">
              <a:lnSpc>
                <a:spcPts val="2370"/>
              </a:lnSpc>
            </a:pPr>
            <a:r>
              <a:rPr lang="en-US" sz="1693">
                <a:solidFill>
                  <a:srgbClr val="FFFFFF"/>
                </a:solidFill>
                <a:latin typeface="Canva Sans"/>
                <a:ea typeface="Canva Sans"/>
                <a:cs typeface="Canva Sans"/>
                <a:sym typeface="Canva Sans"/>
              </a:rPr>
              <a:t>Informs: Where to cap new lending</a:t>
            </a:r>
          </a:p>
        </p:txBody>
      </p:sp>
      <p:sp>
        <p:nvSpPr>
          <p:cNvPr id="40" name="TextBox 40"/>
          <p:cNvSpPr txBox="1"/>
          <p:nvPr/>
        </p:nvSpPr>
        <p:spPr>
          <a:xfrm>
            <a:off x="7618705" y="8397699"/>
            <a:ext cx="3019588" cy="577017"/>
          </a:xfrm>
          <a:prstGeom prst="rect">
            <a:avLst/>
          </a:prstGeom>
        </p:spPr>
        <p:txBody>
          <a:bodyPr lIns="0" tIns="0" rIns="0" bIns="0" rtlCol="0" anchor="t">
            <a:spAutoFit/>
          </a:bodyPr>
          <a:lstStyle/>
          <a:p>
            <a:pPr algn="ctr">
              <a:lnSpc>
                <a:spcPts val="2370"/>
              </a:lnSpc>
            </a:pPr>
            <a:r>
              <a:rPr lang="en-US" sz="1693">
                <a:solidFill>
                  <a:srgbClr val="FFFFFF"/>
                </a:solidFill>
                <a:latin typeface="Canva Sans"/>
                <a:ea typeface="Canva Sans"/>
                <a:cs typeface="Canva Sans"/>
                <a:sym typeface="Canva Sans"/>
              </a:rPr>
              <a:t>Informs: Size of the KYC clean-up</a:t>
            </a:r>
          </a:p>
        </p:txBody>
      </p:sp>
      <p:sp>
        <p:nvSpPr>
          <p:cNvPr id="41" name="TextBox 41"/>
          <p:cNvSpPr txBox="1"/>
          <p:nvPr/>
        </p:nvSpPr>
        <p:spPr>
          <a:xfrm>
            <a:off x="11009768" y="8397699"/>
            <a:ext cx="3019588" cy="577017"/>
          </a:xfrm>
          <a:prstGeom prst="rect">
            <a:avLst/>
          </a:prstGeom>
        </p:spPr>
        <p:txBody>
          <a:bodyPr lIns="0" tIns="0" rIns="0" bIns="0" rtlCol="0" anchor="t">
            <a:spAutoFit/>
          </a:bodyPr>
          <a:lstStyle/>
          <a:p>
            <a:pPr algn="ctr">
              <a:lnSpc>
                <a:spcPts val="2370"/>
              </a:lnSpc>
            </a:pPr>
            <a:r>
              <a:rPr lang="en-US" sz="1693">
                <a:solidFill>
                  <a:srgbClr val="FFFFFF"/>
                </a:solidFill>
                <a:latin typeface="Canva Sans"/>
                <a:ea typeface="Canva Sans"/>
                <a:cs typeface="Canva Sans"/>
                <a:sym typeface="Canva Sans"/>
              </a:rPr>
              <a:t>Informs: Digital migration campaigns</a:t>
            </a:r>
          </a:p>
        </p:txBody>
      </p:sp>
      <p:sp>
        <p:nvSpPr>
          <p:cNvPr id="42" name="TextBox 42"/>
          <p:cNvSpPr txBox="1"/>
          <p:nvPr/>
        </p:nvSpPr>
        <p:spPr>
          <a:xfrm>
            <a:off x="14430430" y="8397699"/>
            <a:ext cx="3019588" cy="577017"/>
          </a:xfrm>
          <a:prstGeom prst="rect">
            <a:avLst/>
          </a:prstGeom>
        </p:spPr>
        <p:txBody>
          <a:bodyPr lIns="0" tIns="0" rIns="0" bIns="0" rtlCol="0" anchor="t">
            <a:spAutoFit/>
          </a:bodyPr>
          <a:lstStyle/>
          <a:p>
            <a:pPr algn="ctr">
              <a:lnSpc>
                <a:spcPts val="2370"/>
              </a:lnSpc>
            </a:pPr>
            <a:r>
              <a:rPr lang="en-US" sz="1693">
                <a:solidFill>
                  <a:srgbClr val="FFFFFF"/>
                </a:solidFill>
                <a:latin typeface="Canva Sans"/>
                <a:ea typeface="Canva Sans"/>
                <a:cs typeface="Canva Sans"/>
                <a:sym typeface="Canva Sans"/>
              </a:rPr>
              <a:t>Informs: Who gets Fixed Deposit and insurance offers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31838" y="314092"/>
            <a:ext cx="16230600" cy="863600"/>
          </a:xfrm>
          <a:prstGeom prst="rect">
            <a:avLst/>
          </a:prstGeom>
        </p:spPr>
        <p:txBody>
          <a:bodyPr lIns="0" tIns="0" rIns="0" bIns="0" rtlCol="0" anchor="t">
            <a:spAutoFit/>
          </a:bodyPr>
          <a:lstStyle/>
          <a:p>
            <a:pPr algn="l">
              <a:lnSpc>
                <a:spcPts val="7000"/>
              </a:lnSpc>
            </a:pPr>
            <a:r>
              <a:rPr lang="en-US" sz="5000">
                <a:solidFill>
                  <a:srgbClr val="000000"/>
                </a:solidFill>
                <a:latin typeface="Canva Sans"/>
                <a:ea typeface="Canva Sans"/>
                <a:cs typeface="Canva Sans"/>
                <a:sym typeface="Canva Sans"/>
              </a:rPr>
              <a:t>Section 6 - Q5 - Board Summary &amp; Recommendation</a:t>
            </a:r>
          </a:p>
        </p:txBody>
      </p:sp>
      <p:grpSp>
        <p:nvGrpSpPr>
          <p:cNvPr id="3" name="Group 3"/>
          <p:cNvGrpSpPr/>
          <p:nvPr/>
        </p:nvGrpSpPr>
        <p:grpSpPr>
          <a:xfrm>
            <a:off x="1028700" y="2779162"/>
            <a:ext cx="8115300" cy="1406381"/>
            <a:chOff x="0" y="0"/>
            <a:chExt cx="3453212" cy="598441"/>
          </a:xfrm>
        </p:grpSpPr>
        <p:sp>
          <p:nvSpPr>
            <p:cNvPr id="4" name="Freeform 4"/>
            <p:cNvSpPr/>
            <p:nvPr/>
          </p:nvSpPr>
          <p:spPr>
            <a:xfrm>
              <a:off x="0" y="0"/>
              <a:ext cx="3453212" cy="598441"/>
            </a:xfrm>
            <a:custGeom>
              <a:avLst/>
              <a:gdLst/>
              <a:ahLst/>
              <a:cxnLst/>
              <a:rect l="l" t="t" r="r" b="b"/>
              <a:pathLst>
                <a:path w="3453212" h="598441">
                  <a:moveTo>
                    <a:pt x="0" y="0"/>
                  </a:moveTo>
                  <a:lnTo>
                    <a:pt x="3453212" y="0"/>
                  </a:lnTo>
                  <a:lnTo>
                    <a:pt x="3453212" y="598441"/>
                  </a:lnTo>
                  <a:lnTo>
                    <a:pt x="0" y="598441"/>
                  </a:lnTo>
                  <a:close/>
                </a:path>
              </a:pathLst>
            </a:custGeom>
            <a:solidFill>
              <a:srgbClr val="006D78"/>
            </a:solidFill>
          </p:spPr>
        </p:sp>
        <p:sp>
          <p:nvSpPr>
            <p:cNvPr id="5" name="TextBox 5"/>
            <p:cNvSpPr txBox="1"/>
            <p:nvPr/>
          </p:nvSpPr>
          <p:spPr>
            <a:xfrm>
              <a:off x="0" y="-38100"/>
              <a:ext cx="3453212" cy="636541"/>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028700" y="4467656"/>
            <a:ext cx="8115300" cy="1406381"/>
            <a:chOff x="0" y="0"/>
            <a:chExt cx="3453212" cy="598441"/>
          </a:xfrm>
        </p:grpSpPr>
        <p:sp>
          <p:nvSpPr>
            <p:cNvPr id="7" name="Freeform 7"/>
            <p:cNvSpPr/>
            <p:nvPr/>
          </p:nvSpPr>
          <p:spPr>
            <a:xfrm>
              <a:off x="0" y="0"/>
              <a:ext cx="3453212" cy="598441"/>
            </a:xfrm>
            <a:custGeom>
              <a:avLst/>
              <a:gdLst/>
              <a:ahLst/>
              <a:cxnLst/>
              <a:rect l="l" t="t" r="r" b="b"/>
              <a:pathLst>
                <a:path w="3453212" h="598441">
                  <a:moveTo>
                    <a:pt x="0" y="0"/>
                  </a:moveTo>
                  <a:lnTo>
                    <a:pt x="3453212" y="0"/>
                  </a:lnTo>
                  <a:lnTo>
                    <a:pt x="3453212" y="598441"/>
                  </a:lnTo>
                  <a:lnTo>
                    <a:pt x="0" y="598441"/>
                  </a:lnTo>
                  <a:close/>
                </a:path>
              </a:pathLst>
            </a:custGeom>
            <a:solidFill>
              <a:srgbClr val="006D78"/>
            </a:solidFill>
          </p:spPr>
        </p:sp>
        <p:sp>
          <p:nvSpPr>
            <p:cNvPr id="8" name="TextBox 8"/>
            <p:cNvSpPr txBox="1"/>
            <p:nvPr/>
          </p:nvSpPr>
          <p:spPr>
            <a:xfrm>
              <a:off x="0" y="-38100"/>
              <a:ext cx="3453212" cy="636541"/>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1028700" y="6159788"/>
            <a:ext cx="8115300" cy="1406381"/>
            <a:chOff x="0" y="0"/>
            <a:chExt cx="3453212" cy="598441"/>
          </a:xfrm>
        </p:grpSpPr>
        <p:sp>
          <p:nvSpPr>
            <p:cNvPr id="10" name="Freeform 10"/>
            <p:cNvSpPr/>
            <p:nvPr/>
          </p:nvSpPr>
          <p:spPr>
            <a:xfrm>
              <a:off x="0" y="0"/>
              <a:ext cx="3453212" cy="598441"/>
            </a:xfrm>
            <a:custGeom>
              <a:avLst/>
              <a:gdLst/>
              <a:ahLst/>
              <a:cxnLst/>
              <a:rect l="l" t="t" r="r" b="b"/>
              <a:pathLst>
                <a:path w="3453212" h="598441">
                  <a:moveTo>
                    <a:pt x="0" y="0"/>
                  </a:moveTo>
                  <a:lnTo>
                    <a:pt x="3453212" y="0"/>
                  </a:lnTo>
                  <a:lnTo>
                    <a:pt x="3453212" y="598441"/>
                  </a:lnTo>
                  <a:lnTo>
                    <a:pt x="0" y="598441"/>
                  </a:lnTo>
                  <a:close/>
                </a:path>
              </a:pathLst>
            </a:custGeom>
            <a:solidFill>
              <a:srgbClr val="006D78"/>
            </a:solidFill>
          </p:spPr>
        </p:sp>
        <p:sp>
          <p:nvSpPr>
            <p:cNvPr id="11" name="TextBox 11"/>
            <p:cNvSpPr txBox="1"/>
            <p:nvPr/>
          </p:nvSpPr>
          <p:spPr>
            <a:xfrm>
              <a:off x="0" y="-38100"/>
              <a:ext cx="3453212" cy="636541"/>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1028700" y="7851919"/>
            <a:ext cx="8115300" cy="1406381"/>
            <a:chOff x="0" y="0"/>
            <a:chExt cx="3453212" cy="598441"/>
          </a:xfrm>
        </p:grpSpPr>
        <p:sp>
          <p:nvSpPr>
            <p:cNvPr id="13" name="Freeform 13"/>
            <p:cNvSpPr/>
            <p:nvPr/>
          </p:nvSpPr>
          <p:spPr>
            <a:xfrm>
              <a:off x="0" y="0"/>
              <a:ext cx="3453212" cy="598441"/>
            </a:xfrm>
            <a:custGeom>
              <a:avLst/>
              <a:gdLst/>
              <a:ahLst/>
              <a:cxnLst/>
              <a:rect l="l" t="t" r="r" b="b"/>
              <a:pathLst>
                <a:path w="3453212" h="598441">
                  <a:moveTo>
                    <a:pt x="0" y="0"/>
                  </a:moveTo>
                  <a:lnTo>
                    <a:pt x="3453212" y="0"/>
                  </a:lnTo>
                  <a:lnTo>
                    <a:pt x="3453212" y="598441"/>
                  </a:lnTo>
                  <a:lnTo>
                    <a:pt x="0" y="598441"/>
                  </a:lnTo>
                  <a:close/>
                </a:path>
              </a:pathLst>
            </a:custGeom>
            <a:solidFill>
              <a:srgbClr val="006D78"/>
            </a:solidFill>
          </p:spPr>
        </p:sp>
        <p:sp>
          <p:nvSpPr>
            <p:cNvPr id="14" name="TextBox 14"/>
            <p:cNvSpPr txBox="1"/>
            <p:nvPr/>
          </p:nvSpPr>
          <p:spPr>
            <a:xfrm>
              <a:off x="0" y="-38100"/>
              <a:ext cx="3453212" cy="636541"/>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p:cNvSpPr txBox="1"/>
          <p:nvPr/>
        </p:nvSpPr>
        <p:spPr>
          <a:xfrm>
            <a:off x="1154389" y="3055633"/>
            <a:ext cx="7989611" cy="815340"/>
          </a:xfrm>
          <a:prstGeom prst="rect">
            <a:avLst/>
          </a:prstGeom>
        </p:spPr>
        <p:txBody>
          <a:bodyPr lIns="0" tIns="0" rIns="0" bIns="0" rtlCol="0" anchor="t">
            <a:spAutoFit/>
          </a:bodyPr>
          <a:lstStyle/>
          <a:p>
            <a:pPr algn="l">
              <a:lnSpc>
                <a:spcPts val="3359"/>
              </a:lnSpc>
            </a:pPr>
            <a:r>
              <a:rPr lang="en-US" sz="2400" b="1">
                <a:solidFill>
                  <a:srgbClr val="FFFFFF"/>
                </a:solidFill>
                <a:latin typeface="Canva Sans Bold"/>
                <a:ea typeface="Canva Sans Bold"/>
                <a:cs typeface="Canva Sans Bold"/>
                <a:sym typeface="Canva Sans Bold"/>
              </a:rPr>
              <a:t>Savings sit with Premium customers: 18% of customers hold 63% of savings.</a:t>
            </a:r>
          </a:p>
        </p:txBody>
      </p:sp>
      <p:sp>
        <p:nvSpPr>
          <p:cNvPr id="16" name="TextBox 16"/>
          <p:cNvSpPr txBox="1"/>
          <p:nvPr/>
        </p:nvSpPr>
        <p:spPr>
          <a:xfrm>
            <a:off x="1154389" y="4745946"/>
            <a:ext cx="7989611" cy="815340"/>
          </a:xfrm>
          <a:prstGeom prst="rect">
            <a:avLst/>
          </a:prstGeom>
        </p:spPr>
        <p:txBody>
          <a:bodyPr lIns="0" tIns="0" rIns="0" bIns="0" rtlCol="0" anchor="t">
            <a:spAutoFit/>
          </a:bodyPr>
          <a:lstStyle/>
          <a:p>
            <a:pPr algn="l">
              <a:lnSpc>
                <a:spcPts val="3359"/>
              </a:lnSpc>
            </a:pPr>
            <a:r>
              <a:rPr lang="en-US" sz="2400" b="1">
                <a:solidFill>
                  <a:srgbClr val="FFFFFF"/>
                </a:solidFill>
                <a:latin typeface="Canva Sans Bold"/>
                <a:ea typeface="Canva Sans Bold"/>
                <a:cs typeface="Canva Sans Bold"/>
                <a:sym typeface="Canva Sans Bold"/>
              </a:rPr>
              <a:t>78% of the loan book is owed by customers whose debt exceeds their savings.</a:t>
            </a:r>
          </a:p>
        </p:txBody>
      </p:sp>
      <p:sp>
        <p:nvSpPr>
          <p:cNvPr id="17" name="TextBox 17"/>
          <p:cNvSpPr txBox="1"/>
          <p:nvPr/>
        </p:nvSpPr>
        <p:spPr>
          <a:xfrm>
            <a:off x="1154389" y="6436258"/>
            <a:ext cx="7989611" cy="815340"/>
          </a:xfrm>
          <a:prstGeom prst="rect">
            <a:avLst/>
          </a:prstGeom>
        </p:spPr>
        <p:txBody>
          <a:bodyPr lIns="0" tIns="0" rIns="0" bIns="0" rtlCol="0" anchor="t">
            <a:spAutoFit/>
          </a:bodyPr>
          <a:lstStyle/>
          <a:p>
            <a:pPr algn="l">
              <a:lnSpc>
                <a:spcPts val="3359"/>
              </a:lnSpc>
            </a:pPr>
            <a:r>
              <a:rPr lang="en-US" sz="2400" b="1">
                <a:solidFill>
                  <a:srgbClr val="FFFFFF"/>
                </a:solidFill>
                <a:latin typeface="Canva Sans Bold"/>
                <a:ea typeface="Canva Sans Bold"/>
                <a:cs typeface="Canva Sans Bold"/>
                <a:sym typeface="Canva Sans Bold"/>
              </a:rPr>
              <a:t>Defaults are highest for Starter customers (19%) and vehicle loans (16%).</a:t>
            </a:r>
          </a:p>
        </p:txBody>
      </p:sp>
      <p:sp>
        <p:nvSpPr>
          <p:cNvPr id="18" name="TextBox 18"/>
          <p:cNvSpPr txBox="1"/>
          <p:nvPr/>
        </p:nvSpPr>
        <p:spPr>
          <a:xfrm>
            <a:off x="1154389" y="8128144"/>
            <a:ext cx="7989611" cy="815340"/>
          </a:xfrm>
          <a:prstGeom prst="rect">
            <a:avLst/>
          </a:prstGeom>
        </p:spPr>
        <p:txBody>
          <a:bodyPr lIns="0" tIns="0" rIns="0" bIns="0" rtlCol="0" anchor="t">
            <a:spAutoFit/>
          </a:bodyPr>
          <a:lstStyle/>
          <a:p>
            <a:pPr algn="l">
              <a:lnSpc>
                <a:spcPts val="3359"/>
              </a:lnSpc>
            </a:pPr>
            <a:r>
              <a:rPr lang="en-US" sz="2400" b="1">
                <a:solidFill>
                  <a:srgbClr val="FFFFFF"/>
                </a:solidFill>
                <a:latin typeface="Canva Sans Bold"/>
                <a:ea typeface="Canva Sans Bold"/>
                <a:cs typeface="Canva Sans Bold"/>
                <a:sym typeface="Canva Sans Bold"/>
              </a:rPr>
              <a:t>Half of savers (51%) hold no Fixed Deposit or insurance, yet they hold 59% of savings.</a:t>
            </a:r>
          </a:p>
        </p:txBody>
      </p:sp>
      <p:grpSp>
        <p:nvGrpSpPr>
          <p:cNvPr id="19" name="Group 19"/>
          <p:cNvGrpSpPr/>
          <p:nvPr/>
        </p:nvGrpSpPr>
        <p:grpSpPr>
          <a:xfrm>
            <a:off x="9347138" y="4471294"/>
            <a:ext cx="8115300" cy="1406381"/>
            <a:chOff x="0" y="0"/>
            <a:chExt cx="3453212" cy="598441"/>
          </a:xfrm>
        </p:grpSpPr>
        <p:sp>
          <p:nvSpPr>
            <p:cNvPr id="20" name="Freeform 20"/>
            <p:cNvSpPr/>
            <p:nvPr/>
          </p:nvSpPr>
          <p:spPr>
            <a:xfrm>
              <a:off x="0" y="0"/>
              <a:ext cx="3453212" cy="598441"/>
            </a:xfrm>
            <a:custGeom>
              <a:avLst/>
              <a:gdLst/>
              <a:ahLst/>
              <a:cxnLst/>
              <a:rect l="l" t="t" r="r" b="b"/>
              <a:pathLst>
                <a:path w="3453212" h="598441">
                  <a:moveTo>
                    <a:pt x="0" y="0"/>
                  </a:moveTo>
                  <a:lnTo>
                    <a:pt x="3453212" y="0"/>
                  </a:lnTo>
                  <a:lnTo>
                    <a:pt x="3453212" y="598441"/>
                  </a:lnTo>
                  <a:lnTo>
                    <a:pt x="0" y="598441"/>
                  </a:lnTo>
                  <a:close/>
                </a:path>
              </a:pathLst>
            </a:custGeom>
            <a:solidFill>
              <a:srgbClr val="1800AD"/>
            </a:solidFill>
          </p:spPr>
        </p:sp>
        <p:sp>
          <p:nvSpPr>
            <p:cNvPr id="21" name="TextBox 21"/>
            <p:cNvSpPr txBox="1"/>
            <p:nvPr/>
          </p:nvSpPr>
          <p:spPr>
            <a:xfrm>
              <a:off x="0" y="-38100"/>
              <a:ext cx="3453212" cy="636541"/>
            </a:xfrm>
            <a:prstGeom prst="rect">
              <a:avLst/>
            </a:prstGeom>
          </p:spPr>
          <p:txBody>
            <a:bodyPr lIns="50800" tIns="50800" rIns="50800" bIns="50800" rtlCol="0" anchor="ctr"/>
            <a:lstStyle/>
            <a:p>
              <a:pPr algn="ctr">
                <a:lnSpc>
                  <a:spcPts val="2659"/>
                </a:lnSpc>
                <a:spcBef>
                  <a:spcPct val="0"/>
                </a:spcBef>
              </a:pPr>
              <a:endParaRPr/>
            </a:p>
          </p:txBody>
        </p:sp>
      </p:grpSp>
      <p:grpSp>
        <p:nvGrpSpPr>
          <p:cNvPr id="22" name="Group 22"/>
          <p:cNvGrpSpPr/>
          <p:nvPr/>
        </p:nvGrpSpPr>
        <p:grpSpPr>
          <a:xfrm>
            <a:off x="9347138" y="6159788"/>
            <a:ext cx="8115300" cy="1406381"/>
            <a:chOff x="0" y="0"/>
            <a:chExt cx="3453212" cy="598441"/>
          </a:xfrm>
        </p:grpSpPr>
        <p:sp>
          <p:nvSpPr>
            <p:cNvPr id="23" name="Freeform 23"/>
            <p:cNvSpPr/>
            <p:nvPr/>
          </p:nvSpPr>
          <p:spPr>
            <a:xfrm>
              <a:off x="0" y="0"/>
              <a:ext cx="3453212" cy="598441"/>
            </a:xfrm>
            <a:custGeom>
              <a:avLst/>
              <a:gdLst/>
              <a:ahLst/>
              <a:cxnLst/>
              <a:rect l="l" t="t" r="r" b="b"/>
              <a:pathLst>
                <a:path w="3453212" h="598441">
                  <a:moveTo>
                    <a:pt x="0" y="0"/>
                  </a:moveTo>
                  <a:lnTo>
                    <a:pt x="3453212" y="0"/>
                  </a:lnTo>
                  <a:lnTo>
                    <a:pt x="3453212" y="598441"/>
                  </a:lnTo>
                  <a:lnTo>
                    <a:pt x="0" y="598441"/>
                  </a:lnTo>
                  <a:close/>
                </a:path>
              </a:pathLst>
            </a:custGeom>
            <a:solidFill>
              <a:srgbClr val="1800AD"/>
            </a:solidFill>
          </p:spPr>
        </p:sp>
        <p:sp>
          <p:nvSpPr>
            <p:cNvPr id="24" name="TextBox 24"/>
            <p:cNvSpPr txBox="1"/>
            <p:nvPr/>
          </p:nvSpPr>
          <p:spPr>
            <a:xfrm>
              <a:off x="0" y="-38100"/>
              <a:ext cx="3453212" cy="636541"/>
            </a:xfrm>
            <a:prstGeom prst="rect">
              <a:avLst/>
            </a:prstGeom>
          </p:spPr>
          <p:txBody>
            <a:bodyPr lIns="50800" tIns="50800" rIns="50800" bIns="50800" rtlCol="0" anchor="ctr"/>
            <a:lstStyle/>
            <a:p>
              <a:pPr algn="ctr">
                <a:lnSpc>
                  <a:spcPts val="2659"/>
                </a:lnSpc>
                <a:spcBef>
                  <a:spcPct val="0"/>
                </a:spcBef>
              </a:pPr>
              <a:endParaRPr/>
            </a:p>
          </p:txBody>
        </p:sp>
      </p:grpSp>
      <p:sp>
        <p:nvSpPr>
          <p:cNvPr id="25" name="TextBox 25"/>
          <p:cNvSpPr txBox="1"/>
          <p:nvPr/>
        </p:nvSpPr>
        <p:spPr>
          <a:xfrm>
            <a:off x="9472827" y="4747764"/>
            <a:ext cx="7989611" cy="815340"/>
          </a:xfrm>
          <a:prstGeom prst="rect">
            <a:avLst/>
          </a:prstGeom>
        </p:spPr>
        <p:txBody>
          <a:bodyPr lIns="0" tIns="0" rIns="0" bIns="0" rtlCol="0" anchor="t">
            <a:spAutoFit/>
          </a:bodyPr>
          <a:lstStyle/>
          <a:p>
            <a:pPr algn="l">
              <a:lnSpc>
                <a:spcPts val="3359"/>
              </a:lnSpc>
            </a:pPr>
            <a:r>
              <a:rPr lang="en-US" sz="2400" b="1">
                <a:solidFill>
                  <a:srgbClr val="FFFFFF"/>
                </a:solidFill>
                <a:latin typeface="Canva Sans Bold"/>
                <a:ea typeface="Canva Sans Bold"/>
                <a:cs typeface="Canva Sans Bold"/>
                <a:sym typeface="Canva Sans Bold"/>
              </a:rPr>
              <a:t>Check repayment history before lending to Starter customers.</a:t>
            </a:r>
          </a:p>
        </p:txBody>
      </p:sp>
      <p:sp>
        <p:nvSpPr>
          <p:cNvPr id="26" name="TextBox 26"/>
          <p:cNvSpPr txBox="1"/>
          <p:nvPr/>
        </p:nvSpPr>
        <p:spPr>
          <a:xfrm>
            <a:off x="9472827" y="6645808"/>
            <a:ext cx="7989611" cy="396240"/>
          </a:xfrm>
          <a:prstGeom prst="rect">
            <a:avLst/>
          </a:prstGeom>
        </p:spPr>
        <p:txBody>
          <a:bodyPr lIns="0" tIns="0" rIns="0" bIns="0" rtlCol="0" anchor="t">
            <a:spAutoFit/>
          </a:bodyPr>
          <a:lstStyle/>
          <a:p>
            <a:pPr algn="l">
              <a:lnSpc>
                <a:spcPts val="3359"/>
              </a:lnSpc>
            </a:pPr>
            <a:r>
              <a:rPr lang="en-US" sz="2400" b="1">
                <a:solidFill>
                  <a:srgbClr val="FFFFFF"/>
                </a:solidFill>
                <a:latin typeface="Canva Sans Bold"/>
                <a:ea typeface="Canva Sans Bold"/>
                <a:cs typeface="Canva Sans Bold"/>
                <a:sym typeface="Canva Sans Bold"/>
              </a:rPr>
              <a:t>Offer deposits and insurance to Premium savers first.</a:t>
            </a:r>
          </a:p>
        </p:txBody>
      </p:sp>
      <p:sp>
        <p:nvSpPr>
          <p:cNvPr id="27" name="TextBox 27"/>
          <p:cNvSpPr txBox="1"/>
          <p:nvPr/>
        </p:nvSpPr>
        <p:spPr>
          <a:xfrm>
            <a:off x="3120108" y="1886520"/>
            <a:ext cx="4058171" cy="936154"/>
          </a:xfrm>
          <a:prstGeom prst="rect">
            <a:avLst/>
          </a:prstGeom>
        </p:spPr>
        <p:txBody>
          <a:bodyPr wrap="square" lIns="0" tIns="0" rIns="0" bIns="0" rtlCol="0" anchor="t">
            <a:spAutoFit/>
          </a:bodyPr>
          <a:lstStyle/>
          <a:p>
            <a:pPr algn="ctr">
              <a:lnSpc>
                <a:spcPts val="7279"/>
              </a:lnSpc>
            </a:pPr>
            <a:r>
              <a:rPr lang="en-US" sz="5199" dirty="0">
                <a:solidFill>
                  <a:srgbClr val="000000"/>
                </a:solidFill>
                <a:latin typeface="Canva Sans"/>
                <a:ea typeface="Canva Sans"/>
                <a:cs typeface="Canva Sans"/>
                <a:sym typeface="Canva Sans"/>
              </a:rPr>
              <a:t>SUMMARY</a:t>
            </a:r>
          </a:p>
        </p:txBody>
      </p:sp>
      <p:sp>
        <p:nvSpPr>
          <p:cNvPr id="28" name="TextBox 28"/>
          <p:cNvSpPr txBox="1"/>
          <p:nvPr/>
        </p:nvSpPr>
        <p:spPr>
          <a:xfrm>
            <a:off x="9771319" y="3622499"/>
            <a:ext cx="7392626" cy="936154"/>
          </a:xfrm>
          <a:prstGeom prst="rect">
            <a:avLst/>
          </a:prstGeom>
        </p:spPr>
        <p:txBody>
          <a:bodyPr wrap="square" lIns="0" tIns="0" rIns="0" bIns="0" rtlCol="0" anchor="t">
            <a:spAutoFit/>
          </a:bodyPr>
          <a:lstStyle/>
          <a:p>
            <a:pPr algn="ctr">
              <a:lnSpc>
                <a:spcPts val="7279"/>
              </a:lnSpc>
            </a:pPr>
            <a:r>
              <a:rPr lang="en-US" sz="5199" dirty="0">
                <a:solidFill>
                  <a:srgbClr val="000000"/>
                </a:solidFill>
                <a:latin typeface="Canva Sans"/>
                <a:ea typeface="Canva Sans"/>
                <a:cs typeface="Canva Sans"/>
                <a:sym typeface="Canva Sans"/>
              </a:rPr>
              <a:t>RECOMMENDATIONS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p:nvPr>
            <p:extLst>
              <p:ext uri="{D42A27DB-BD31-4B8C-83A1-F6EECF244321}">
                <p14:modId xmlns:p14="http://schemas.microsoft.com/office/powerpoint/2010/main" val="3472123927"/>
              </p:ext>
            </p:extLst>
          </p:nvPr>
        </p:nvGraphicFramePr>
        <p:xfrm>
          <a:off x="-152400" y="2095500"/>
          <a:ext cx="17603788" cy="7499350"/>
        </p:xfrm>
        <a:graphic>
          <a:graphicData uri="http://schemas.openxmlformats.org/presentationml/2006/ole">
            <mc:AlternateContent xmlns:mc="http://schemas.openxmlformats.org/markup-compatibility/2006">
              <mc:Choice xmlns:v="urn:schemas-microsoft-com:vml" Requires="v">
                <p:oleObj spid="_x0000_s1028" name="Worksheet" r:id="rId3" imgW="19469100" imgH="9867900" progId="Excel.Sheet.12">
                  <p:embed/>
                </p:oleObj>
              </mc:Choice>
              <mc:Fallback>
                <p:oleObj name="Worksheet" r:id="rId3" imgW="19469100" imgH="9867900" progId="Excel.Sheet.12">
                  <p:embed/>
                  <p:pic>
                    <p:nvPicPr>
                      <p:cNvPr id="0" name=""/>
                      <p:cNvPicPr/>
                      <p:nvPr/>
                    </p:nvPicPr>
                    <p:blipFill>
                      <a:blip r:embed="rId4"/>
                      <a:stretch>
                        <a:fillRect/>
                      </a:stretch>
                    </p:blipFill>
                    <p:spPr>
                      <a:xfrm>
                        <a:off x="-152400" y="2095500"/>
                        <a:ext cx="17603788" cy="7499350"/>
                      </a:xfrm>
                      <a:prstGeom prst="rect">
                        <a:avLst/>
                      </a:prstGeom>
                    </p:spPr>
                  </p:pic>
                </p:oleObj>
              </mc:Fallback>
            </mc:AlternateContent>
          </a:graphicData>
        </a:graphic>
      </p:graphicFrame>
      <p:sp>
        <p:nvSpPr>
          <p:cNvPr id="3" name="TextBox 3"/>
          <p:cNvSpPr txBox="1"/>
          <p:nvPr/>
        </p:nvSpPr>
        <p:spPr>
          <a:xfrm>
            <a:off x="1028700" y="933450"/>
            <a:ext cx="12556778" cy="887095"/>
          </a:xfrm>
          <a:prstGeom prst="rect">
            <a:avLst/>
          </a:prstGeom>
        </p:spPr>
        <p:txBody>
          <a:bodyPr lIns="0" tIns="0" rIns="0" bIns="0" rtlCol="0" anchor="t">
            <a:spAutoFit/>
          </a:bodyPr>
          <a:lstStyle/>
          <a:p>
            <a:pPr algn="l">
              <a:lnSpc>
                <a:spcPts val="7279"/>
              </a:lnSpc>
            </a:pPr>
            <a:r>
              <a:rPr lang="en-US" sz="5199">
                <a:solidFill>
                  <a:srgbClr val="000000"/>
                </a:solidFill>
                <a:latin typeface="Canva Sans"/>
                <a:ea typeface="Canva Sans"/>
                <a:cs typeface="Canva Sans"/>
                <a:sym typeface="Canva Sans"/>
              </a:rPr>
              <a:t>Section 7 - Q6 - Critique Your Own 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656</Words>
  <Application>Microsoft Office PowerPoint</Application>
  <PresentationFormat>Custom</PresentationFormat>
  <Paragraphs>75</Paragraphs>
  <Slides>10</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10</vt:i4>
      </vt:variant>
    </vt:vector>
  </HeadingPairs>
  <TitlesOfParts>
    <vt:vector size="18" baseType="lpstr">
      <vt:lpstr>Arial</vt:lpstr>
      <vt:lpstr>Canva Sans Italics</vt:lpstr>
      <vt:lpstr>Canva Sans Bold</vt:lpstr>
      <vt:lpstr>Segoe UI</vt:lpstr>
      <vt:lpstr>Canva Sans</vt:lpstr>
      <vt:lpstr>Calibri</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Add a heading</dc:title>
  <cp:lastModifiedBy>Lenovo</cp:lastModifiedBy>
  <cp:revision>4</cp:revision>
  <dcterms:created xsi:type="dcterms:W3CDTF">2006-08-16T00:00:00Z</dcterms:created>
  <dcterms:modified xsi:type="dcterms:W3CDTF">2026-10-11T03:49:38Z</dcterms:modified>
  <dc:identifier>DAHXnZDyiMM</dc:identifier>
</cp:coreProperties>
</file>